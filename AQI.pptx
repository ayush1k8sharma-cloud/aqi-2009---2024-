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AQI</c:v>
                </c:pt>
              </c:strCache>
            </c:strRef>
          </c:tx>
          <c:spPr>
            <a:solidFill>
              <a:schemeClr val="accent1"/>
            </a:solidFill>
            <a:ln w="9525" cap="flat">
              <a:solidFill>
                <a:srgbClr val="F9F9F9"/>
              </a:solidFill>
              <a:prstDash val="solid"/>
              <a:round/>
            </a:ln>
            <a:effectLst/>
          </c:spPr>
          <c:dPt>
            <c:idx val="0"/>
            <c:bubble3D val="0"/>
            <c:spPr>
              <a:solidFill>
                <a:srgbClr val="2DC653"/>
              </a:solidFill>
              <a:effectLst/>
            </c:spPr>
          </c:dPt>
          <c:dPt>
            <c:idx val="1"/>
            <c:bubble3D val="0"/>
            <c:spPr>
              <a:solidFill>
                <a:srgbClr val="A8E063"/>
              </a:solidFill>
              <a:effectLst/>
            </c:spPr>
          </c:dPt>
          <c:dPt>
            <c:idx val="2"/>
            <c:bubble3D val="0"/>
            <c:spPr>
              <a:solidFill>
                <a:srgbClr val="F4C542"/>
              </a:solidFill>
              <a:effectLst/>
            </c:spPr>
          </c:dPt>
          <c:dPt>
            <c:idx val="3"/>
            <c:bubble3D val="0"/>
            <c:spPr>
              <a:solidFill>
                <a:srgbClr val="F4A261"/>
              </a:solidFill>
              <a:effectLst/>
            </c:spPr>
          </c:dPt>
          <c:dPt>
            <c:idx val="4"/>
            <c:bubble3D val="0"/>
            <c:spPr>
              <a:solidFill>
                <a:srgbClr val="E63946"/>
              </a:solidFill>
              <a:effectLst/>
            </c:spPr>
          </c:dPt>
          <c:dPt>
            <c:idx val="5"/>
            <c:bubble3D val="0"/>
            <c:spPr>
              <a:solidFill>
                <a:srgbClr val="6C1515"/>
              </a:solidFill>
              <a:effectLst/>
            </c:spPr>
          </c:dPt>
          <c:dLbls>
            <c:dLbl>
              <c:idx val="0"/>
              <c:numFmt formatCode="General" sourceLinked="0"/>
              <c:spPr/>
              <c:txPr>
                <a:bodyPr/>
                <a:lstStyle/>
                <a:p>
                  <a:pPr>
                    <a:defRPr sz="800" b="0" i="0" u="none" strike="noStrike">
                      <a:solidFill>
                        <a:srgbClr val="1A2E3C"/>
                      </a:solidFill>
                      <a:latin typeface="Arial"/>
                    </a:defRPr>
                  </a:pPr>
                </a:p>
              </c:txPr>
              <c:showLegendKey val="0"/>
              <c:showVal val="0"/>
              <c:showCatName val="1"/>
              <c:showSerName val="0"/>
              <c:showPercent val="0"/>
              <c:showBubbleSize val="0"/>
            </c:dLbl>
            <c:dLbl>
              <c:idx val="1"/>
              <c:numFmt formatCode="General" sourceLinked="0"/>
              <c:spPr/>
              <c:txPr>
                <a:bodyPr/>
                <a:lstStyle/>
                <a:p>
                  <a:pPr>
                    <a:defRPr sz="800" b="0" i="0" u="none" strike="noStrike">
                      <a:solidFill>
                        <a:srgbClr val="1A2E3C"/>
                      </a:solidFill>
                      <a:latin typeface="Arial"/>
                    </a:defRPr>
                  </a:pPr>
                </a:p>
              </c:txPr>
              <c:showLegendKey val="0"/>
              <c:showVal val="0"/>
              <c:showCatName val="1"/>
              <c:showSerName val="0"/>
              <c:showPercent val="0"/>
              <c:showBubbleSize val="0"/>
            </c:dLbl>
            <c:dLbl>
              <c:idx val="2"/>
              <c:numFmt formatCode="General" sourceLinked="0"/>
              <c:spPr/>
              <c:txPr>
                <a:bodyPr/>
                <a:lstStyle/>
                <a:p>
                  <a:pPr>
                    <a:defRPr sz="800" b="0" i="0" u="none" strike="noStrike">
                      <a:solidFill>
                        <a:srgbClr val="1A2E3C"/>
                      </a:solidFill>
                      <a:latin typeface="Arial"/>
                    </a:defRPr>
                  </a:pPr>
                </a:p>
              </c:txPr>
              <c:showLegendKey val="0"/>
              <c:showVal val="0"/>
              <c:showCatName val="1"/>
              <c:showSerName val="0"/>
              <c:showPercent val="0"/>
              <c:showBubbleSize val="0"/>
            </c:dLbl>
            <c:dLbl>
              <c:idx val="3"/>
              <c:numFmt formatCode="General" sourceLinked="0"/>
              <c:spPr/>
              <c:txPr>
                <a:bodyPr/>
                <a:lstStyle/>
                <a:p>
                  <a:pPr>
                    <a:defRPr sz="800" b="0" i="0" u="none" strike="noStrike">
                      <a:solidFill>
                        <a:srgbClr val="1A2E3C"/>
                      </a:solidFill>
                      <a:latin typeface="Arial"/>
                    </a:defRPr>
                  </a:pPr>
                </a:p>
              </c:txPr>
              <c:showLegendKey val="0"/>
              <c:showVal val="0"/>
              <c:showCatName val="1"/>
              <c:showSerName val="0"/>
              <c:showPercent val="0"/>
              <c:showBubbleSize val="0"/>
            </c:dLbl>
            <c:dLbl>
              <c:idx val="4"/>
              <c:numFmt formatCode="General" sourceLinked="0"/>
              <c:spPr/>
              <c:txPr>
                <a:bodyPr/>
                <a:lstStyle/>
                <a:p>
                  <a:pPr>
                    <a:defRPr sz="800" b="0" i="0" u="none" strike="noStrike">
                      <a:solidFill>
                        <a:srgbClr val="1A2E3C"/>
                      </a:solidFill>
                      <a:latin typeface="Arial"/>
                    </a:defRPr>
                  </a:pPr>
                </a:p>
              </c:txPr>
              <c:showLegendKey val="0"/>
              <c:showVal val="0"/>
              <c:showCatName val="1"/>
              <c:showSerName val="0"/>
              <c:showPercent val="0"/>
              <c:showBubbleSize val="0"/>
            </c:dLbl>
            <c:dLbl>
              <c:idx val="5"/>
              <c:numFmt formatCode="General" sourceLinked="0"/>
              <c:spPr/>
              <c:txPr>
                <a:bodyPr/>
                <a:lstStyle/>
                <a:p>
                  <a:pPr>
                    <a:defRPr sz="800" b="0" i="0" u="none" strike="noStrike">
                      <a:solidFill>
                        <a:srgbClr val="1A2E3C"/>
                      </a:solidFill>
                      <a:latin typeface="Arial"/>
                    </a:defRPr>
                  </a:pPr>
                </a:p>
              </c:txPr>
              <c:showLegendKey val="0"/>
              <c:showVal val="0"/>
              <c:showCatName val="1"/>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Good
6.3%</c:v>
                </c:pt>
                <c:pt idx="1">
                  <c:v>Satisfactory
30.4%</c:v>
                </c:pt>
                <c:pt idx="2">
                  <c:v>Moderate
57.5%</c:v>
                </c:pt>
                <c:pt idx="3">
                  <c:v>Poor
4.3%</c:v>
                </c:pt>
                <c:pt idx="4">
                  <c:v>Very Poor
1.2%</c:v>
                </c:pt>
                <c:pt idx="5">
                  <c:v>Severe
0.3%</c:v>
                </c:pt>
              </c:strCache>
            </c:strRef>
          </c:cat>
          <c:val>
            <c:numRef>
              <c:f>Sheet1!$B$2:$B$7</c:f>
              <c:numCache>
                <c:ptCount val="6"/>
                <c:pt idx="0">
                  <c:v>6.3</c:v>
                </c:pt>
                <c:pt idx="1">
                  <c:v>30.4</c:v>
                </c:pt>
                <c:pt idx="2">
                  <c:v>57.5</c:v>
                </c:pt>
                <c:pt idx="3">
                  <c:v>4.3</c:v>
                </c:pt>
                <c:pt idx="4">
                  <c:v>1.2</c:v>
                </c:pt>
                <c:pt idx="5">
                  <c:v>0.3</c:v>
                </c:pt>
              </c:numCache>
            </c:numRef>
          </c:val>
        </c:ser>
        <c:firstSliceAng val="0"/>
      </c:pieChart>
      <c:spPr>
        <a:noFill/>
        <a:ln>
          <a:noFill/>
        </a:ln>
        <a:effectLst/>
      </c:spPr>
    </c:plotArea>
    <c:plotVisOnly val="1"/>
    <c:dispBlanksAs val="span"/>
  </c:chart>
  <c:spPr>
    <a:solidFill>
      <a:srgbClr val="F0F6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Avg AQI</c:v>
                </c:pt>
              </c:strCache>
            </c:strRef>
          </c:tx>
          <c:spPr>
            <a:solidFill>
              <a:srgbClr val="E63946"/>
            </a:solidFill>
            <a:ln w="31750" cap="flat">
              <a:solidFill>
                <a:srgbClr val="E639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63946"/>
              </a:solidFill>
              <a:ln w="9525" cap="flat">
                <a:solidFill>
                  <a:srgbClr val="E63946"/>
                </a:solidFill>
                <a:prstDash val="solid"/>
                <a:round/>
              </a:ln>
              <a:effectLst/>
            </c:spPr>
          </c:marker>
          <c:cat>
            <c:multiLvlStrRef>
              <c:f>Sheet1!$A$2:$A$17</c:f>
              <c:multiLvlStrCache>
                <c:ptCount val="16"/>
                <c:lvl>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lvl>
              </c:multiLvlStrCache>
            </c:multiLvlStrRef>
          </c:cat>
          <c:val>
            <c:numRef>
              <c:f>Sheet1!$B$2:$B$17</c:f>
              <c:numCache>
                <c:formatCode>General</c:formatCode>
                <c:ptCount val="16"/>
                <c:pt idx="0">
                  <c:v>119</c:v>
                </c:pt>
                <c:pt idx="1">
                  <c:v>122</c:v>
                </c:pt>
                <c:pt idx="2">
                  <c:v>127</c:v>
                </c:pt>
                <c:pt idx="3">
                  <c:v>145</c:v>
                </c:pt>
                <c:pt idx="4">
                  <c:v>133</c:v>
                </c:pt>
                <c:pt idx="5">
                  <c:v>125</c:v>
                </c:pt>
                <c:pt idx="6">
                  <c:v>138</c:v>
                </c:pt>
                <c:pt idx="7">
                  <c:v>145</c:v>
                </c:pt>
                <c:pt idx="8">
                  <c:v>139</c:v>
                </c:pt>
                <c:pt idx="9">
                  <c:v>145</c:v>
                </c:pt>
                <c:pt idx="10">
                  <c:v>136</c:v>
                </c:pt>
                <c:pt idx="11">
                  <c:v>122</c:v>
                </c:pt>
                <c:pt idx="12">
                  <c:v>125</c:v>
                </c:pt>
                <c:pt idx="13">
                  <c:v>124</c:v>
                </c:pt>
                <c:pt idx="14">
                  <c:v>116</c:v>
                </c:pt>
                <c:pt idx="15">
                  <c:v>113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AQI</c:v>
                </c:pt>
              </c:strCache>
            </c:strRef>
          </c:tx>
          <c:spPr>
            <a:solidFill>
              <a:srgbClr val="C1121F"/>
            </a:solidFill>
            <a:effectLst/>
          </c:spPr>
          <c:invertIfNegative val="0"/>
          <c:dLbls>
            <c:numFmt formatCode="#,##0" sourceLinked="0"/>
            <c:txPr>
              <a:bodyPr/>
              <a:lstStyle/>
              <a:p>
                <a:pPr>
                  <a:defRPr b="0" i="0" strike="noStrike" sz="800" u="none">
                    <a:solidFill>
                      <a:srgbClr val="1A2E3C"/>
                    </a:solidFill>
                    <a:latin typeface="Arial"/>
                  </a:defRPr>
                </a:pPr>
              </a:p>
            </c:txPr>
            <c:showLegendKey val="0"/>
            <c:showVal val="1"/>
            <c:showCatName val="0"/>
            <c:showSerName val="0"/>
            <c:showPercent val="0"/>
            <c:showBubbleSize val="0"/>
            <c:showLeaderLines val="0"/>
          </c:dLbls>
          <c:dPt>
            <c:idx val="0"/>
            <c:invertIfNegative val="0"/>
            <c:bubble3D val="0"/>
            <c:spPr>
              <a:solidFill>
                <a:srgbClr val="C1121F"/>
              </a:solidFill>
              <a:effectLst/>
            </c:spPr>
          </c:dPt>
          <c:dPt>
            <c:idx val="1"/>
            <c:invertIfNegative val="0"/>
            <c:bubble3D val="0"/>
            <c:spPr>
              <a:solidFill>
                <a:srgbClr val="E63946"/>
              </a:solidFill>
              <a:effectLst/>
            </c:spPr>
          </c:dPt>
          <c:dPt>
            <c:idx val="2"/>
            <c:invertIfNegative val="0"/>
            <c:bubble3D val="0"/>
            <c:spPr>
              <a:solidFill>
                <a:srgbClr val="E76F51"/>
              </a:solidFill>
              <a:effectLst/>
            </c:spPr>
          </c:dPt>
          <c:dPt>
            <c:idx val="3"/>
            <c:invertIfNegative val="0"/>
            <c:bubble3D val="0"/>
            <c:spPr>
              <a:solidFill>
                <a:srgbClr val="F4A261"/>
              </a:solidFill>
              <a:effectLst/>
            </c:spPr>
          </c:dPt>
          <c:dPt>
            <c:idx val="4"/>
            <c:invertIfNegative val="0"/>
            <c:bubble3D val="0"/>
            <c:spPr>
              <a:solidFill>
                <a:srgbClr val="F4A261"/>
              </a:solidFill>
              <a:effectLst/>
            </c:spPr>
          </c:dPt>
          <c:dPt>
            <c:idx val="5"/>
            <c:invertIfNegative val="0"/>
            <c:bubble3D val="0"/>
            <c:spPr>
              <a:solidFill>
                <a:srgbClr val="F9C74F"/>
              </a:solidFill>
              <a:effectLst/>
            </c:spPr>
          </c:dPt>
          <c:dPt>
            <c:idx val="6"/>
            <c:invertIfNegative val="0"/>
            <c:bubble3D val="0"/>
            <c:spPr>
              <a:solidFill>
                <a:srgbClr val="F9C74F"/>
              </a:solidFill>
              <a:effectLst/>
            </c:spPr>
          </c:dPt>
          <c:dPt>
            <c:idx val="7"/>
            <c:invertIfNegative val="0"/>
            <c:bubble3D val="0"/>
            <c:spPr>
              <a:solidFill>
                <a:srgbClr val="90BE6D"/>
              </a:solidFill>
              <a:effectLst/>
            </c:spPr>
          </c:dPt>
          <c:dPt>
            <c:idx val="8"/>
            <c:invertIfNegative val="0"/>
            <c:bubble3D val="0"/>
            <c:spPr>
              <a:solidFill>
                <a:srgbClr val="90BE6D"/>
              </a:solidFill>
              <a:effectLst/>
            </c:spPr>
          </c:dPt>
          <c:dPt>
            <c:idx val="9"/>
            <c:invertIfNegative val="0"/>
            <c:bubble3D val="0"/>
            <c:spPr>
              <a:solidFill>
                <a:srgbClr val="90BE6D"/>
              </a:solidFill>
              <a:effectLst/>
            </c:spPr>
          </c:dPt>
          <c:cat>
            <c:multiLvlStrRef>
              <c:f>Sheet1!$A$2:$A$11</c:f>
              <c:multiLvlStrCache>
                <c:ptCount val="10"/>
                <c:lvl>
                  <c:pt idx="0">
                    <c:v>Delhi NCT</c:v>
                  </c:pt>
                  <c:pt idx="1">
                    <c:v>Bihar</c:v>
                  </c:pt>
                  <c:pt idx="2">
                    <c:v>Haryana</c:v>
                  </c:pt>
                  <c:pt idx="3">
                    <c:v>Punjab</c:v>
                  </c:pt>
                  <c:pt idx="4">
                    <c:v>Uttar Pradesh</c:v>
                  </c:pt>
                  <c:pt idx="5">
                    <c:v>Rajasthan</c:v>
                  </c:pt>
                  <c:pt idx="6">
                    <c:v>Gujarat</c:v>
                  </c:pt>
                  <c:pt idx="7">
                    <c:v>Odisha</c:v>
                  </c:pt>
                  <c:pt idx="8">
                    <c:v>Jharkhand</c:v>
                  </c:pt>
                  <c:pt idx="9">
                    <c:v>West Bengal</c:v>
                  </c:pt>
                </c:lvl>
              </c:multiLvlStrCache>
            </c:multiLvlStrRef>
          </c:cat>
          <c:val>
            <c:numRef>
              <c:f>Sheet1!$B$2:$B$11</c:f>
              <c:numCache>
                <c:formatCode>General</c:formatCode>
                <c:ptCount val="10"/>
                <c:pt idx="0">
                  <c:v>161</c:v>
                </c:pt>
                <c:pt idx="1">
                  <c:v>131</c:v>
                </c:pt>
                <c:pt idx="2">
                  <c:v>130</c:v>
                </c:pt>
                <c:pt idx="3">
                  <c:v>130</c:v>
                </c:pt>
                <c:pt idx="4">
                  <c:v>129</c:v>
                </c:pt>
                <c:pt idx="5">
                  <c:v>127</c:v>
                </c:pt>
                <c:pt idx="6">
                  <c:v>123</c:v>
                </c:pt>
                <c:pt idx="7">
                  <c:v>122</c:v>
                </c:pt>
                <c:pt idx="8">
                  <c:v>121</c:v>
                </c:pt>
                <c:pt idx="9">
                  <c:v>118</c:v>
                </c:pt>
              </c:numCache>
            </c:numRef>
          </c:val>
        </c:ser>
        <c:dLbls>
          <c:numFmt formatCode="#,##0" sourceLinked="0"/>
          <c:txPr>
            <a:bodyPr/>
            <a:lstStyle/>
            <a:p>
              <a:pPr>
                <a:defRPr b="0" i="0" strike="noStrike" sz="800" u="none">
                  <a:solidFill>
                    <a:srgbClr val="1A2E3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E3C"/>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AQI</c:v>
                </c:pt>
              </c:strCache>
            </c:strRef>
          </c:tx>
          <c:spPr>
            <a:solidFill>
              <a:srgbClr val="2DC653"/>
            </a:solidFill>
            <a:effectLst/>
          </c:spPr>
          <c:invertIfNegative val="0"/>
          <c:dLbls>
            <c:numFmt formatCode="#,##0" sourceLinked="0"/>
            <c:txPr>
              <a:bodyPr/>
              <a:lstStyle/>
              <a:p>
                <a:pPr>
                  <a:defRPr b="0" i="0" strike="noStrike" sz="900" u="none">
                    <a:solidFill>
                      <a:srgbClr val="1A2E3C"/>
                    </a:solidFill>
                    <a:latin typeface="Arial"/>
                  </a:defRPr>
                </a:pPr>
              </a:p>
            </c:txPr>
            <c:showLegendKey val="0"/>
            <c:showVal val="1"/>
            <c:showCatName val="0"/>
            <c:showSerName val="0"/>
            <c:showPercent val="0"/>
            <c:showBubbleSize val="0"/>
            <c:showLeaderLines val="0"/>
          </c:dLbls>
          <c:dPt>
            <c:idx val="0"/>
            <c:invertIfNegative val="0"/>
            <c:bubble3D val="0"/>
            <c:spPr>
              <a:solidFill>
                <a:srgbClr val="2DC653"/>
              </a:solidFill>
              <a:effectLst/>
            </c:spPr>
          </c:dPt>
          <c:dPt>
            <c:idx val="1"/>
            <c:invertIfNegative val="0"/>
            <c:bubble3D val="0"/>
            <c:spPr>
              <a:solidFill>
                <a:srgbClr val="43AA8B"/>
              </a:solidFill>
              <a:effectLst/>
            </c:spPr>
          </c:dPt>
          <c:dPt>
            <c:idx val="2"/>
            <c:invertIfNegative val="0"/>
            <c:bubble3D val="0"/>
            <c:spPr>
              <a:solidFill>
                <a:srgbClr val="4CC9F0"/>
              </a:solidFill>
              <a:effectLst/>
            </c:spPr>
          </c:dPt>
          <c:dPt>
            <c:idx val="3"/>
            <c:invertIfNegative val="0"/>
            <c:bubble3D val="0"/>
            <c:spPr>
              <a:solidFill>
                <a:srgbClr val="4361EE"/>
              </a:solidFill>
              <a:effectLst/>
            </c:spPr>
          </c:dPt>
          <c:dPt>
            <c:idx val="4"/>
            <c:invertIfNegative val="0"/>
            <c:bubble3D val="0"/>
            <c:spPr>
              <a:solidFill>
                <a:srgbClr val="7209B7"/>
              </a:solidFill>
              <a:effectLst/>
            </c:spPr>
          </c:dPt>
          <c:cat>
            <c:multiLvlStrRef>
              <c:f>Sheet1!$A$2:$A$6</c:f>
              <c:multiLvlStrCache>
                <c:ptCount val="5"/>
                <c:lvl>
                  <c:pt idx="0">
                    <c:v>Aizawl</c:v>
                  </c:pt>
                  <c:pt idx="1">
                    <c:v>Tirunelveli</c:v>
                  </c:pt>
                  <c:pt idx="2">
                    <c:v>Silchar</c:v>
                  </c:pt>
                  <c:pt idx="3">
                    <c:v>Gangtok</c:v>
                  </c:pt>
                  <c:pt idx="4">
                    <c:v>Madikeri</c:v>
                  </c:pt>
                </c:lvl>
              </c:multiLvlStrCache>
            </c:multiLvlStrRef>
          </c:cat>
          <c:val>
            <c:numRef>
              <c:f>Sheet1!$B$2:$B$6</c:f>
              <c:numCache>
                <c:formatCode>General</c:formatCode>
                <c:ptCount val="5"/>
                <c:pt idx="0">
                  <c:v>47</c:v>
                </c:pt>
                <c:pt idx="1">
                  <c:v>57</c:v>
                </c:pt>
                <c:pt idx="2">
                  <c:v>59</c:v>
                </c:pt>
                <c:pt idx="3">
                  <c:v>62</c:v>
                </c:pt>
                <c:pt idx="4">
                  <c:v>64</c:v>
                </c:pt>
              </c:numCache>
            </c:numRef>
          </c:val>
        </c:ser>
        <c:dLbls>
          <c:numFmt formatCode="#,##0" sourceLinked="0"/>
          <c:txPr>
            <a:bodyPr/>
            <a:lstStyle/>
            <a:p>
              <a:pPr>
                <a:defRPr b="0" i="0" strike="noStrike" sz="900" u="none">
                  <a:solidFill>
                    <a:srgbClr val="1A2E3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E3C"/>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AQI</c:v>
                </c:pt>
              </c:strCache>
            </c:strRef>
          </c:tx>
          <c:spPr>
            <a:solidFill>
              <a:srgbClr val="2B459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2B4590"/>
              </a:solidFill>
              <a:effectLst/>
            </c:spPr>
          </c:dPt>
          <c:dPt>
            <c:idx val="1"/>
            <c:invertIfNegative val="0"/>
            <c:bubble3D val="0"/>
            <c:spPr>
              <a:solidFill>
                <a:srgbClr val="3A6EA5"/>
              </a:solidFill>
              <a:effectLst/>
            </c:spPr>
          </c:dPt>
          <c:dPt>
            <c:idx val="2"/>
            <c:invertIfNegative val="0"/>
            <c:bubble3D val="0"/>
            <c:spPr>
              <a:solidFill>
                <a:srgbClr val="5890C8"/>
              </a:solidFill>
              <a:effectLst/>
            </c:spPr>
          </c:dPt>
          <c:dPt>
            <c:idx val="3"/>
            <c:invertIfNegative val="0"/>
            <c:bubble3D val="0"/>
            <c:spPr>
              <a:solidFill>
                <a:srgbClr val="7AAFD4"/>
              </a:solidFill>
              <a:effectLst/>
            </c:spPr>
          </c:dPt>
          <c:dPt>
            <c:idx val="4"/>
            <c:invertIfNegative val="0"/>
            <c:bubble3D val="0"/>
            <c:spPr>
              <a:solidFill>
                <a:srgbClr val="9ACBE3"/>
              </a:solidFill>
              <a:effectLst/>
            </c:spPr>
          </c:dPt>
          <c:dPt>
            <c:idx val="5"/>
            <c:invertIfNegative val="0"/>
            <c:bubble3D val="0"/>
            <c:spPr>
              <a:solidFill>
                <a:srgbClr val="C8DFF0"/>
              </a:solidFill>
              <a:effectLst/>
            </c:spPr>
          </c:dPt>
          <c:dPt>
            <c:idx val="6"/>
            <c:invertIfNegative val="0"/>
            <c:bubble3D val="0"/>
            <c:spPr>
              <a:solidFill>
                <a:srgbClr val="F9E795"/>
              </a:solidFill>
              <a:effectLst/>
            </c:spPr>
          </c:dPt>
          <c:dPt>
            <c:idx val="7"/>
            <c:invertIfNegative val="0"/>
            <c:bubble3D val="0"/>
            <c:spPr>
              <a:solidFill>
                <a:srgbClr val="F9C74F"/>
              </a:solidFill>
              <a:effectLst/>
            </c:spPr>
          </c:dPt>
          <c:dPt>
            <c:idx val="8"/>
            <c:invertIfNegative val="0"/>
            <c:bubble3D val="0"/>
            <c:spPr>
              <a:solidFill>
                <a:srgbClr val="F4A261"/>
              </a:solidFill>
              <a:effectLst/>
            </c:spPr>
          </c:dPt>
          <c:dPt>
            <c:idx val="9"/>
            <c:invertIfNegative val="0"/>
            <c:bubble3D val="0"/>
            <c:spPr>
              <a:solidFill>
                <a:srgbClr val="E76F51"/>
              </a:solidFill>
              <a:effectLst/>
            </c:spPr>
          </c:dPt>
          <c:dPt>
            <c:idx val="10"/>
            <c:invertIfNegative val="0"/>
            <c:bubble3D val="0"/>
            <c:spPr>
              <a:solidFill>
                <a:srgbClr val="C1121F"/>
              </a:solidFill>
              <a:effectLst/>
            </c:spPr>
          </c:dPt>
          <c:dPt>
            <c:idx val="11"/>
            <c:invertIfNegative val="0"/>
            <c:bubble3D val="0"/>
            <c:spPr>
              <a:solidFill>
                <a:srgbClr val="9D0208"/>
              </a:solidFill>
              <a:effectLst/>
            </c:spPr>
          </c:dPt>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161</c:v>
                </c:pt>
                <c:pt idx="1">
                  <c:v>144</c:v>
                </c:pt>
                <c:pt idx="2">
                  <c:v>129</c:v>
                </c:pt>
                <c:pt idx="3">
                  <c:v>121</c:v>
                </c:pt>
                <c:pt idx="4">
                  <c:v>113</c:v>
                </c:pt>
                <c:pt idx="5">
                  <c:v>101</c:v>
                </c:pt>
                <c:pt idx="6">
                  <c:v>84</c:v>
                </c:pt>
                <c:pt idx="7">
                  <c:v>84</c:v>
                </c:pt>
                <c:pt idx="8">
                  <c:v>89</c:v>
                </c:pt>
                <c:pt idx="9">
                  <c:v>127</c:v>
                </c:pt>
                <c:pt idx="10">
                  <c:v>163</c:v>
                </c:pt>
                <c:pt idx="11">
                  <c:v>159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E3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Conc.</c:v>
                </c:pt>
              </c:strCache>
            </c:strRef>
          </c:tx>
          <c:spPr>
            <a:solidFill>
              <a:srgbClr val="E63946"/>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E63946"/>
              </a:solidFill>
              <a:effectLst/>
            </c:spPr>
          </c:dPt>
          <c:dPt>
            <c:idx val="1"/>
            <c:invertIfNegative val="0"/>
            <c:bubble3D val="0"/>
            <c:spPr>
              <a:solidFill>
                <a:srgbClr val="F4A261"/>
              </a:solidFill>
              <a:effectLst/>
            </c:spPr>
          </c:dPt>
          <c:dPt>
            <c:idx val="2"/>
            <c:invertIfNegative val="0"/>
            <c:bubble3D val="0"/>
            <c:spPr>
              <a:solidFill>
                <a:srgbClr val="F9C74F"/>
              </a:solidFill>
              <a:effectLst/>
            </c:spPr>
          </c:dPt>
          <c:dPt>
            <c:idx val="3"/>
            <c:invertIfNegative val="0"/>
            <c:bubble3D val="0"/>
            <c:spPr>
              <a:solidFill>
                <a:srgbClr val="4CC9F0"/>
              </a:solidFill>
              <a:effectLst/>
            </c:spPr>
          </c:dPt>
          <c:dPt>
            <c:idx val="4"/>
            <c:invertIfNegative val="0"/>
            <c:bubble3D val="0"/>
            <c:spPr>
              <a:solidFill>
                <a:srgbClr val="7209B7"/>
              </a:solidFill>
              <a:effectLst/>
            </c:spPr>
          </c:dPt>
          <c:dPt>
            <c:idx val="5"/>
            <c:invertIfNegative val="0"/>
            <c:bubble3D val="0"/>
            <c:spPr>
              <a:solidFill>
                <a:srgbClr val="2DC653"/>
              </a:solidFill>
              <a:effectLst/>
            </c:spPr>
          </c:dPt>
          <c:dPt>
            <c:idx val="6"/>
            <c:invertIfNegative val="0"/>
            <c:bubble3D val="0"/>
            <c:spPr>
              <a:solidFill>
                <a:srgbClr val="90BE6D"/>
              </a:solidFill>
              <a:effectLst/>
            </c:spPr>
          </c:dPt>
          <c:cat>
            <c:multiLvlStrRef>
              <c:f>Sheet1!$A$2:$A$8</c:f>
              <c:multiLvlStrCache>
                <c:ptCount val="7"/>
                <c:lvl>
                  <c:pt idx="0">
                    <c:v>PM10</c:v>
                  </c:pt>
                  <c:pt idx="1">
                    <c:v>PM2.5</c:v>
                  </c:pt>
                  <c:pt idx="2">
                    <c:v>Ozone</c:v>
                  </c:pt>
                  <c:pt idx="3">
                    <c:v>NO2</c:v>
                  </c:pt>
                  <c:pt idx="4">
                    <c:v>NH3</c:v>
                  </c:pt>
                  <c:pt idx="5">
                    <c:v>SO2</c:v>
                  </c:pt>
                  <c:pt idx="6">
                    <c:v>CO</c:v>
                  </c:pt>
                </c:lvl>
              </c:multiLvlStrCache>
            </c:multiLvlStrRef>
          </c:cat>
          <c:val>
            <c:numRef>
              <c:f>Sheet1!$B$2:$B$8</c:f>
              <c:numCache>
                <c:formatCode>General</c:formatCode>
                <c:ptCount val="7"/>
                <c:pt idx="0">
                  <c:v>119.7</c:v>
                </c:pt>
                <c:pt idx="1">
                  <c:v>57.3</c:v>
                </c:pt>
                <c:pt idx="2">
                  <c:v>30.4</c:v>
                </c:pt>
                <c:pt idx="3">
                  <c:v>25.7</c:v>
                </c:pt>
                <c:pt idx="4">
                  <c:v>24.2</c:v>
                </c:pt>
                <c:pt idx="5">
                  <c:v>12</c:v>
                </c:pt>
                <c:pt idx="6">
                  <c:v>1.2</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8C8E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50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8C8E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63A52"/>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Punjab</c:v>
                </c:pt>
              </c:strCache>
            </c:strRef>
          </c:tx>
          <c:spPr>
            <a:solidFill>
              <a:srgbClr val="E63946"/>
            </a:solidFill>
            <a:ln w="31750" cap="flat">
              <a:solidFill>
                <a:srgbClr val="E639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63946"/>
              </a:solidFill>
              <a:ln w="9525" cap="flat">
                <a:solidFill>
                  <a:srgbClr val="E63946"/>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146</c:v>
                </c:pt>
                <c:pt idx="1">
                  <c:v>136</c:v>
                </c:pt>
                <c:pt idx="2">
                  <c:v>122</c:v>
                </c:pt>
                <c:pt idx="3">
                  <c:v>123</c:v>
                </c:pt>
                <c:pt idx="4">
                  <c:v>135</c:v>
                </c:pt>
                <c:pt idx="5">
                  <c:v>129</c:v>
                </c:pt>
                <c:pt idx="6">
                  <c:v>100</c:v>
                </c:pt>
                <c:pt idx="7">
                  <c:v>95</c:v>
                </c:pt>
                <c:pt idx="8">
                  <c:v>101</c:v>
                </c:pt>
                <c:pt idx="9">
                  <c:v>146</c:v>
                </c:pt>
                <c:pt idx="10">
                  <c:v>179</c:v>
                </c:pt>
                <c:pt idx="11">
                  <c:v>160</c:v>
                </c:pt>
              </c:numCache>
            </c:numRef>
          </c:val>
          <c:smooth val="1"/>
        </c:ser>
        <c:ser>
          <c:idx val="1"/>
          <c:order val="1"/>
          <c:tx>
            <c:strRef>
              <c:f>Sheet1!$C$1</c:f>
              <c:strCache>
                <c:ptCount val="1"/>
                <c:pt idx="0">
                  <c:v>India</c:v>
                </c:pt>
              </c:strCache>
            </c:strRef>
          </c:tx>
          <c:spPr>
            <a:solidFill>
              <a:srgbClr val="0077B6"/>
            </a:solidFill>
            <a:ln w="31750" cap="flat">
              <a:solidFill>
                <a:srgbClr val="0077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77B6"/>
              </a:solidFill>
              <a:ln w="9525" cap="flat">
                <a:solidFill>
                  <a:srgbClr val="0077B6"/>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161</c:v>
                </c:pt>
                <c:pt idx="1">
                  <c:v>144</c:v>
                </c:pt>
                <c:pt idx="2">
                  <c:v>129</c:v>
                </c:pt>
                <c:pt idx="3">
                  <c:v>121</c:v>
                </c:pt>
                <c:pt idx="4">
                  <c:v>113</c:v>
                </c:pt>
                <c:pt idx="5">
                  <c:v>101</c:v>
                </c:pt>
                <c:pt idx="6">
                  <c:v>84</c:v>
                </c:pt>
                <c:pt idx="7">
                  <c:v>84</c:v>
                </c:pt>
                <c:pt idx="8">
                  <c:v>89</c:v>
                </c:pt>
                <c:pt idx="9">
                  <c:v>127</c:v>
                </c:pt>
                <c:pt idx="10">
                  <c:v>163</c:v>
                </c:pt>
                <c:pt idx="11">
                  <c:v>159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E3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F"/>
        </a:solidFill>
      </p:bgPr>
    </p:bg>
    <p:spTree>
      <p:nvGrpSpPr>
        <p:cNvPr id="1" name=""/>
        <p:cNvGrpSpPr/>
        <p:nvPr/>
      </p:nvGrpSpPr>
      <p:grpSpPr>
        <a:xfrm>
          <a:off x="0" y="0"/>
          <a:ext cx="0" cy="0"/>
          <a:chOff x="0" y="0"/>
          <a:chExt cx="0" cy="0"/>
        </a:xfrm>
      </p:grpSpPr>
      <p:sp>
        <p:nvSpPr>
          <p:cNvPr id="2" name="Shape 0"/>
          <p:cNvSpPr/>
          <p:nvPr/>
        </p:nvSpPr>
        <p:spPr>
          <a:xfrm>
            <a:off x="0" y="0"/>
            <a:ext cx="5029200" cy="5143500"/>
          </a:xfrm>
          <a:prstGeom prst="rect">
            <a:avLst/>
          </a:prstGeom>
          <a:solidFill>
            <a:srgbClr val="163A52"/>
          </a:solidFill>
          <a:ln w="12700">
            <a:solidFill>
              <a:srgbClr val="163A52"/>
            </a:solidFill>
            <a:prstDash val="solid"/>
          </a:ln>
        </p:spPr>
      </p:sp>
      <p:sp>
        <p:nvSpPr>
          <p:cNvPr id="3" name="Shape 1"/>
          <p:cNvSpPr/>
          <p:nvPr/>
        </p:nvSpPr>
        <p:spPr>
          <a:xfrm>
            <a:off x="457200" y="1097280"/>
            <a:ext cx="2560320" cy="320040"/>
          </a:xfrm>
          <a:prstGeom prst="roundRect">
            <a:avLst>
              <a:gd name="adj" fmla="val 14286"/>
            </a:avLst>
          </a:prstGeom>
          <a:solidFill>
            <a:srgbClr val="1A4A6B"/>
          </a:solidFill>
          <a:ln w="12700">
            <a:solidFill>
              <a:srgbClr val="1A4A6B"/>
            </a:solidFill>
            <a:prstDash val="solid"/>
          </a:ln>
        </p:spPr>
      </p:sp>
      <p:sp>
        <p:nvSpPr>
          <p:cNvPr id="4" name="Text 2"/>
          <p:cNvSpPr/>
          <p:nvPr/>
        </p:nvSpPr>
        <p:spPr>
          <a:xfrm>
            <a:off x="457200" y="1097280"/>
            <a:ext cx="2560320" cy="320040"/>
          </a:xfrm>
          <a:prstGeom prst="rect">
            <a:avLst/>
          </a:prstGeom>
          <a:noFill/>
          <a:ln/>
        </p:spPr>
        <p:txBody>
          <a:bodyPr wrap="square" lIns="0" tIns="0" rIns="0" bIns="0" rtlCol="0" anchor="ctr"/>
          <a:lstStyle/>
          <a:p>
            <a:pPr algn="ctr" indent="0" marL="0">
              <a:buNone/>
            </a:pPr>
            <a:r>
              <a:rPr lang="en-US" sz="800" b="1" dirty="0">
                <a:solidFill>
                  <a:srgbClr val="00B4D8"/>
                </a:solidFill>
              </a:rPr>
              <a:t>COLLEGE PROJECT SUBMISSION</a:t>
            </a:r>
            <a:endParaRPr lang="en-US" sz="800" dirty="0"/>
          </a:p>
        </p:txBody>
      </p:sp>
      <p:sp>
        <p:nvSpPr>
          <p:cNvPr id="5" name="Text 3"/>
          <p:cNvSpPr/>
          <p:nvPr/>
        </p:nvSpPr>
        <p:spPr>
          <a:xfrm>
            <a:off x="457200" y="1554480"/>
            <a:ext cx="4389120" cy="6400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India Air Quality</a:t>
            </a:r>
            <a:endParaRPr lang="en-US" sz="3600" dirty="0"/>
          </a:p>
        </p:txBody>
      </p:sp>
      <p:sp>
        <p:nvSpPr>
          <p:cNvPr id="6" name="Text 4"/>
          <p:cNvSpPr/>
          <p:nvPr/>
        </p:nvSpPr>
        <p:spPr>
          <a:xfrm>
            <a:off x="457200" y="2148840"/>
            <a:ext cx="4389120" cy="640080"/>
          </a:xfrm>
          <a:prstGeom prst="rect">
            <a:avLst/>
          </a:prstGeom>
          <a:noFill/>
          <a:ln/>
        </p:spPr>
        <p:txBody>
          <a:bodyPr wrap="square" rtlCol="0" anchor="ctr"/>
          <a:lstStyle/>
          <a:p>
            <a:pPr indent="0" marL="0">
              <a:buNone/>
            </a:pPr>
            <a:r>
              <a:rPr lang="en-US" sz="3600" b="1" dirty="0">
                <a:solidFill>
                  <a:srgbClr val="00B4D8"/>
                </a:solidFill>
                <a:latin typeface="Calibri" pitchFamily="34" charset="0"/>
                <a:ea typeface="Calibri" pitchFamily="34" charset="-122"/>
                <a:cs typeface="Calibri" pitchFamily="34" charset="-120"/>
              </a:rPr>
              <a:t>Index Analysis</a:t>
            </a:r>
            <a:endParaRPr lang="en-US" sz="3600" dirty="0"/>
          </a:p>
        </p:txBody>
      </p:sp>
      <p:sp>
        <p:nvSpPr>
          <p:cNvPr id="7" name="Text 5"/>
          <p:cNvSpPr/>
          <p:nvPr/>
        </p:nvSpPr>
        <p:spPr>
          <a:xfrm>
            <a:off x="457200" y="2880360"/>
            <a:ext cx="4389120" cy="822960"/>
          </a:xfrm>
          <a:prstGeom prst="rect">
            <a:avLst/>
          </a:prstGeom>
          <a:noFill/>
          <a:ln/>
        </p:spPr>
        <p:txBody>
          <a:bodyPr wrap="square" rtlCol="0" anchor="ctr"/>
          <a:lstStyle/>
          <a:p>
            <a:pPr indent="0" marL="0">
              <a:lnSpc>
                <a:spcPct val="130000"/>
              </a:lnSpc>
              <a:buNone/>
            </a:pPr>
            <a:r>
              <a:rPr lang="en-US" sz="1100" dirty="0">
                <a:solidFill>
                  <a:srgbClr val="A8C8E0"/>
                </a:solidFill>
                <a:latin typeface="Calibri" pitchFamily="34" charset="0"/>
                <a:ea typeface="Calibri" pitchFamily="34" charset="-122"/>
                <a:cs typeface="Calibri" pitchFamily="34" charset="-120"/>
              </a:rPr>
              <a:t>A comprehensive data science analysis of air pollution</a:t>
            </a:r>
            <a:endParaRPr lang="en-US" sz="1100" dirty="0"/>
          </a:p>
          <a:p>
            <a:pPr indent="0" marL="0">
              <a:lnSpc>
                <a:spcPct val="130000"/>
              </a:lnSpc>
              <a:buNone/>
            </a:pPr>
            <a:r>
              <a:rPr lang="en-US" sz="1100" dirty="0">
                <a:solidFill>
                  <a:srgbClr val="A8C8E0"/>
                </a:solidFill>
                <a:latin typeface="Calibri" pitchFamily="34" charset="0"/>
                <a:ea typeface="Calibri" pitchFamily="34" charset="-122"/>
                <a:cs typeface="Calibri" pitchFamily="34" charset="-120"/>
              </a:rPr>
              <a:t>across 483 stations, 240 cities and 20 Indian states</a:t>
            </a:r>
            <a:endParaRPr lang="en-US" sz="1100" dirty="0"/>
          </a:p>
          <a:p>
            <a:pPr indent="0" marL="0">
              <a:lnSpc>
                <a:spcPct val="130000"/>
              </a:lnSpc>
              <a:buNone/>
            </a:pPr>
            <a:r>
              <a:rPr lang="en-US" sz="1100" dirty="0">
                <a:solidFill>
                  <a:srgbClr val="A8C8E0"/>
                </a:solidFill>
                <a:latin typeface="Calibri" pitchFamily="34" charset="0"/>
                <a:ea typeface="Calibri" pitchFamily="34" charset="-122"/>
                <a:cs typeface="Calibri" pitchFamily="34" charset="-120"/>
              </a:rPr>
              <a:t>from 2009 to 2024.</a:t>
            </a:r>
            <a:endParaRPr lang="en-US" sz="1100" dirty="0"/>
          </a:p>
        </p:txBody>
      </p:sp>
      <p:sp>
        <p:nvSpPr>
          <p:cNvPr id="8" name="Text 6"/>
          <p:cNvSpPr/>
          <p:nvPr/>
        </p:nvSpPr>
        <p:spPr>
          <a:xfrm>
            <a:off x="457200" y="3840480"/>
            <a:ext cx="4389120" cy="365760"/>
          </a:xfrm>
          <a:prstGeom prst="rect">
            <a:avLst/>
          </a:prstGeom>
          <a:noFill/>
          <a:ln/>
        </p:spPr>
        <p:txBody>
          <a:bodyPr wrap="square" rtlCol="0" anchor="ctr"/>
          <a:lstStyle/>
          <a:p>
            <a:pPr indent="0" marL="0">
              <a:buNone/>
            </a:pPr>
            <a:r>
              <a:rPr lang="en-US" sz="1000" dirty="0">
                <a:solidFill>
                  <a:srgbClr val="A8C8E0"/>
                </a:solidFill>
                <a:latin typeface="Calibri" pitchFamily="34" charset="0"/>
                <a:ea typeface="Calibri" pitchFamily="34" charset="-122"/>
                <a:cs typeface="Calibri" pitchFamily="34" charset="-120"/>
              </a:rPr>
              <a:t>By: </a:t>
            </a:r>
            <a:pPr indent="0" marL="0">
              <a:buNone/>
            </a:pPr>
            <a:r>
              <a:rPr lang="en-US" sz="1000" b="1" dirty="0">
                <a:solidFill>
                  <a:srgbClr val="FFFFFF"/>
                </a:solidFill>
                <a:latin typeface="Calibri" pitchFamily="34" charset="0"/>
                <a:ea typeface="Calibri" pitchFamily="34" charset="-122"/>
                <a:cs typeface="Calibri" pitchFamily="34" charset="-120"/>
              </a:rPr>
              <a:t>Ayush Sharma</a:t>
            </a:r>
            <a:pPr indent="0" marL="0">
              <a:buNone/>
            </a:pPr>
            <a:r>
              <a:rPr lang="en-US" sz="1000" dirty="0">
                <a:solidFill>
                  <a:srgbClr val="A8C8E0"/>
                </a:solidFill>
                <a:latin typeface="Calibri" pitchFamily="34" charset="0"/>
                <a:ea typeface="Calibri" pitchFamily="34" charset="-122"/>
                <a:cs typeface="Calibri" pitchFamily="34" charset="-120"/>
              </a:rPr>
              <a:t>  |  DAVIET  |  2513533  |  CSE - AI/ML</a:t>
            </a:r>
            <a:endParaRPr lang="en-US" sz="1000" dirty="0"/>
          </a:p>
        </p:txBody>
      </p:sp>
      <p:sp>
        <p:nvSpPr>
          <p:cNvPr id="9" name="Shape 7"/>
          <p:cNvSpPr/>
          <p:nvPr/>
        </p:nvSpPr>
        <p:spPr>
          <a:xfrm>
            <a:off x="5212080" y="731520"/>
            <a:ext cx="1737360" cy="1554480"/>
          </a:xfrm>
          <a:prstGeom prst="roundRect">
            <a:avLst>
              <a:gd name="adj" fmla="val 5882"/>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212080" y="1005840"/>
            <a:ext cx="1737360" cy="640080"/>
          </a:xfrm>
          <a:prstGeom prst="rect">
            <a:avLst/>
          </a:prstGeom>
          <a:noFill/>
          <a:ln/>
        </p:spPr>
        <p:txBody>
          <a:bodyPr wrap="square" rtlCol="0" anchor="ctr"/>
          <a:lstStyle/>
          <a:p>
            <a:pPr algn="ctr" indent="0" marL="0">
              <a:buNone/>
            </a:pPr>
            <a:r>
              <a:rPr lang="en-US" sz="3400" b="1" dirty="0">
                <a:solidFill>
                  <a:srgbClr val="00B4D8"/>
                </a:solidFill>
                <a:latin typeface="Calibri" pitchFamily="34" charset="0"/>
                <a:ea typeface="Calibri" pitchFamily="34" charset="-122"/>
                <a:cs typeface="Calibri" pitchFamily="34" charset="-120"/>
              </a:rPr>
              <a:t>483</a:t>
            </a:r>
            <a:endParaRPr lang="en-US" sz="3400" dirty="0"/>
          </a:p>
        </p:txBody>
      </p:sp>
      <p:sp>
        <p:nvSpPr>
          <p:cNvPr id="11" name="Text 9"/>
          <p:cNvSpPr/>
          <p:nvPr/>
        </p:nvSpPr>
        <p:spPr>
          <a:xfrm>
            <a:off x="5212080" y="1645920"/>
            <a:ext cx="1737360" cy="457200"/>
          </a:xfrm>
          <a:prstGeom prst="rect">
            <a:avLst/>
          </a:prstGeom>
          <a:noFill/>
          <a:ln/>
        </p:spPr>
        <p:txBody>
          <a:bodyPr wrap="square" rtlCol="0" anchor="ctr"/>
          <a:lstStyle/>
          <a:p>
            <a:pPr algn="ctr" indent="0" marL="0">
              <a:buNone/>
            </a:pPr>
            <a:r>
              <a:rPr lang="en-US" sz="950" dirty="0">
                <a:solidFill>
                  <a:srgbClr val="A8C8E0"/>
                </a:solidFill>
                <a:latin typeface="Calibri" pitchFamily="34" charset="0"/>
                <a:ea typeface="Calibri" pitchFamily="34" charset="-122"/>
                <a:cs typeface="Calibri" pitchFamily="34" charset="-120"/>
              </a:rPr>
              <a:t>Monitoring Stations</a:t>
            </a:r>
            <a:endParaRPr lang="en-US" sz="950" dirty="0"/>
          </a:p>
        </p:txBody>
      </p:sp>
      <p:sp>
        <p:nvSpPr>
          <p:cNvPr id="12" name="Shape 10"/>
          <p:cNvSpPr/>
          <p:nvPr/>
        </p:nvSpPr>
        <p:spPr>
          <a:xfrm>
            <a:off x="7040880" y="731520"/>
            <a:ext cx="1737360" cy="1554480"/>
          </a:xfrm>
          <a:prstGeom prst="roundRect">
            <a:avLst>
              <a:gd name="adj" fmla="val 5882"/>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7040880" y="1005840"/>
            <a:ext cx="1737360" cy="640080"/>
          </a:xfrm>
          <a:prstGeom prst="rect">
            <a:avLst/>
          </a:prstGeom>
          <a:noFill/>
          <a:ln/>
        </p:spPr>
        <p:txBody>
          <a:bodyPr wrap="square" rtlCol="0" anchor="ctr"/>
          <a:lstStyle/>
          <a:p>
            <a:pPr algn="ctr" indent="0" marL="0">
              <a:buNone/>
            </a:pPr>
            <a:r>
              <a:rPr lang="en-US" sz="3400" b="1" dirty="0">
                <a:solidFill>
                  <a:srgbClr val="00B4D8"/>
                </a:solidFill>
                <a:latin typeface="Calibri" pitchFamily="34" charset="0"/>
                <a:ea typeface="Calibri" pitchFamily="34" charset="-122"/>
                <a:cs typeface="Calibri" pitchFamily="34" charset="-120"/>
              </a:rPr>
              <a:t>240</a:t>
            </a:r>
            <a:endParaRPr lang="en-US" sz="3400" dirty="0"/>
          </a:p>
        </p:txBody>
      </p:sp>
      <p:sp>
        <p:nvSpPr>
          <p:cNvPr id="14" name="Text 12"/>
          <p:cNvSpPr/>
          <p:nvPr/>
        </p:nvSpPr>
        <p:spPr>
          <a:xfrm>
            <a:off x="7040880" y="1645920"/>
            <a:ext cx="1737360" cy="457200"/>
          </a:xfrm>
          <a:prstGeom prst="rect">
            <a:avLst/>
          </a:prstGeom>
          <a:noFill/>
          <a:ln/>
        </p:spPr>
        <p:txBody>
          <a:bodyPr wrap="square" rtlCol="0" anchor="ctr"/>
          <a:lstStyle/>
          <a:p>
            <a:pPr algn="ctr" indent="0" marL="0">
              <a:buNone/>
            </a:pPr>
            <a:r>
              <a:rPr lang="en-US" sz="950" dirty="0">
                <a:solidFill>
                  <a:srgbClr val="A8C8E0"/>
                </a:solidFill>
                <a:latin typeface="Calibri" pitchFamily="34" charset="0"/>
                <a:ea typeface="Calibri" pitchFamily="34" charset="-122"/>
                <a:cs typeface="Calibri" pitchFamily="34" charset="-120"/>
              </a:rPr>
              <a:t>Cities Covered</a:t>
            </a:r>
            <a:endParaRPr lang="en-US" sz="950" dirty="0"/>
          </a:p>
        </p:txBody>
      </p:sp>
      <p:sp>
        <p:nvSpPr>
          <p:cNvPr id="15" name="Shape 13"/>
          <p:cNvSpPr/>
          <p:nvPr/>
        </p:nvSpPr>
        <p:spPr>
          <a:xfrm>
            <a:off x="5212080" y="2651760"/>
            <a:ext cx="1737360" cy="1554480"/>
          </a:xfrm>
          <a:prstGeom prst="roundRect">
            <a:avLst>
              <a:gd name="adj" fmla="val 5882"/>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5212080" y="2926080"/>
            <a:ext cx="1737360" cy="640080"/>
          </a:xfrm>
          <a:prstGeom prst="rect">
            <a:avLst/>
          </a:prstGeom>
          <a:noFill/>
          <a:ln/>
        </p:spPr>
        <p:txBody>
          <a:bodyPr wrap="square" rtlCol="0" anchor="ctr"/>
          <a:lstStyle/>
          <a:p>
            <a:pPr algn="ctr" indent="0" marL="0">
              <a:buNone/>
            </a:pPr>
            <a:r>
              <a:rPr lang="en-US" sz="3400" b="1" dirty="0">
                <a:solidFill>
                  <a:srgbClr val="00B4D8"/>
                </a:solidFill>
                <a:latin typeface="Calibri" pitchFamily="34" charset="0"/>
                <a:ea typeface="Calibri" pitchFamily="34" charset="-122"/>
                <a:cs typeface="Calibri" pitchFamily="34" charset="-120"/>
              </a:rPr>
              <a:t>20</a:t>
            </a:r>
            <a:endParaRPr lang="en-US" sz="3400" dirty="0"/>
          </a:p>
        </p:txBody>
      </p:sp>
      <p:sp>
        <p:nvSpPr>
          <p:cNvPr id="17" name="Text 15"/>
          <p:cNvSpPr/>
          <p:nvPr/>
        </p:nvSpPr>
        <p:spPr>
          <a:xfrm>
            <a:off x="5212080" y="3566160"/>
            <a:ext cx="1737360" cy="457200"/>
          </a:xfrm>
          <a:prstGeom prst="rect">
            <a:avLst/>
          </a:prstGeom>
          <a:noFill/>
          <a:ln/>
        </p:spPr>
        <p:txBody>
          <a:bodyPr wrap="square" rtlCol="0" anchor="ctr"/>
          <a:lstStyle/>
          <a:p>
            <a:pPr algn="ctr" indent="0" marL="0">
              <a:buNone/>
            </a:pPr>
            <a:r>
              <a:rPr lang="en-US" sz="950" dirty="0">
                <a:solidFill>
                  <a:srgbClr val="A8C8E0"/>
                </a:solidFill>
                <a:latin typeface="Calibri" pitchFamily="34" charset="0"/>
                <a:ea typeface="Calibri" pitchFamily="34" charset="-122"/>
                <a:cs typeface="Calibri" pitchFamily="34" charset="-120"/>
              </a:rPr>
              <a:t>Indian States</a:t>
            </a:r>
            <a:endParaRPr lang="en-US" sz="950" dirty="0"/>
          </a:p>
        </p:txBody>
      </p:sp>
      <p:sp>
        <p:nvSpPr>
          <p:cNvPr id="18" name="Shape 16"/>
          <p:cNvSpPr/>
          <p:nvPr/>
        </p:nvSpPr>
        <p:spPr>
          <a:xfrm>
            <a:off x="7040880" y="2651760"/>
            <a:ext cx="1737360" cy="1554480"/>
          </a:xfrm>
          <a:prstGeom prst="roundRect">
            <a:avLst>
              <a:gd name="adj" fmla="val 5882"/>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7040880" y="2926080"/>
            <a:ext cx="1737360" cy="640080"/>
          </a:xfrm>
          <a:prstGeom prst="rect">
            <a:avLst/>
          </a:prstGeom>
          <a:noFill/>
          <a:ln/>
        </p:spPr>
        <p:txBody>
          <a:bodyPr wrap="square" rtlCol="0" anchor="ctr"/>
          <a:lstStyle/>
          <a:p>
            <a:pPr algn="ctr" indent="0" marL="0">
              <a:buNone/>
            </a:pPr>
            <a:r>
              <a:rPr lang="en-US" sz="3400" b="1" dirty="0">
                <a:solidFill>
                  <a:srgbClr val="00B4D8"/>
                </a:solidFill>
                <a:latin typeface="Calibri" pitchFamily="34" charset="0"/>
                <a:ea typeface="Calibri" pitchFamily="34" charset="-122"/>
                <a:cs typeface="Calibri" pitchFamily="34" charset="-120"/>
              </a:rPr>
              <a:t>15</a:t>
            </a:r>
            <a:endParaRPr lang="en-US" sz="3400" dirty="0"/>
          </a:p>
        </p:txBody>
      </p:sp>
      <p:sp>
        <p:nvSpPr>
          <p:cNvPr id="20" name="Text 18"/>
          <p:cNvSpPr/>
          <p:nvPr/>
        </p:nvSpPr>
        <p:spPr>
          <a:xfrm>
            <a:off x="7040880" y="3566160"/>
            <a:ext cx="1737360" cy="457200"/>
          </a:xfrm>
          <a:prstGeom prst="rect">
            <a:avLst/>
          </a:prstGeom>
          <a:noFill/>
          <a:ln/>
        </p:spPr>
        <p:txBody>
          <a:bodyPr wrap="square" rtlCol="0" anchor="ctr"/>
          <a:lstStyle/>
          <a:p>
            <a:pPr algn="ctr" indent="0" marL="0">
              <a:buNone/>
            </a:pPr>
            <a:r>
              <a:rPr lang="en-US" sz="950" dirty="0">
                <a:solidFill>
                  <a:srgbClr val="A8C8E0"/>
                </a:solidFill>
                <a:latin typeface="Calibri" pitchFamily="34" charset="0"/>
                <a:ea typeface="Calibri" pitchFamily="34" charset="-122"/>
                <a:cs typeface="Calibri" pitchFamily="34" charset="-120"/>
              </a:rPr>
              <a:t>Years of Data</a:t>
            </a:r>
            <a:endParaRPr lang="en-US" sz="950" dirty="0"/>
          </a:p>
        </p:txBody>
      </p:sp>
      <p:sp>
        <p:nvSpPr>
          <p:cNvPr id="21" name="Text 19"/>
          <p:cNvSpPr/>
          <p:nvPr/>
        </p:nvSpPr>
        <p:spPr>
          <a:xfrm>
            <a:off x="5120640" y="4480560"/>
            <a:ext cx="3840480" cy="365760"/>
          </a:xfrm>
          <a:prstGeom prst="rect">
            <a:avLst/>
          </a:prstGeom>
          <a:noFill/>
          <a:ln/>
        </p:spPr>
        <p:txBody>
          <a:bodyPr wrap="square" rtlCol="0" anchor="ctr"/>
          <a:lstStyle/>
          <a:p>
            <a:pPr algn="ctr" indent="0" marL="0">
              <a:buNone/>
            </a:pPr>
            <a:r>
              <a:rPr lang="en-US" sz="850" dirty="0">
                <a:solidFill>
                  <a:srgbClr val="607D8B"/>
                </a:solidFill>
                <a:latin typeface="Calibri" pitchFamily="34" charset="0"/>
                <a:ea typeface="Calibri" pitchFamily="34" charset="-122"/>
                <a:cs typeface="Calibri" pitchFamily="34" charset="-120"/>
              </a:rPr>
              <a:t>Data Source: CPCB via Kaggle  |  Tools: Python, Pandas, Matplotlib, Seaborn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4A6FA5"/>
                </a:solidFill>
                <a:latin typeface="Calibri" pitchFamily="34" charset="0"/>
                <a:ea typeface="Calibri" pitchFamily="34" charset="-122"/>
                <a:cs typeface="Calibri" pitchFamily="34" charset="-120"/>
              </a:rPr>
              <a:t>AGENDA</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800" b="1" dirty="0">
                <a:solidFill>
                  <a:srgbClr val="1A2E3C"/>
                </a:solidFill>
                <a:latin typeface="Calibri" pitchFamily="34" charset="0"/>
                <a:ea typeface="Calibri" pitchFamily="34" charset="-122"/>
                <a:cs typeface="Calibri" pitchFamily="34" charset="-120"/>
              </a:rPr>
              <a:t>Table of Contents</a:t>
            </a:r>
            <a:endParaRPr lang="en-US" sz="2800" dirty="0"/>
          </a:p>
        </p:txBody>
      </p:sp>
      <p:sp>
        <p:nvSpPr>
          <p:cNvPr id="4" name="Shape 2"/>
          <p:cNvSpPr/>
          <p:nvPr/>
        </p:nvSpPr>
        <p:spPr>
          <a:xfrm>
            <a:off x="365760" y="1234440"/>
            <a:ext cx="4114800" cy="749808"/>
          </a:xfrm>
          <a:prstGeom prst="roundRect">
            <a:avLst>
              <a:gd name="adj" fmla="val 97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457200" y="1371600"/>
            <a:ext cx="438912" cy="438912"/>
          </a:xfrm>
          <a:prstGeom prst="roundRect">
            <a:avLst>
              <a:gd name="adj" fmla="val 12500"/>
            </a:avLst>
          </a:prstGeom>
          <a:solidFill>
            <a:srgbClr val="0077B6"/>
          </a:solidFill>
          <a:ln w="12700">
            <a:solidFill>
              <a:srgbClr val="0077B6"/>
            </a:solidFill>
            <a:prstDash val="solid"/>
          </a:ln>
        </p:spPr>
      </p:sp>
      <p:sp>
        <p:nvSpPr>
          <p:cNvPr id="6" name="Text 4"/>
          <p:cNvSpPr/>
          <p:nvPr/>
        </p:nvSpPr>
        <p:spPr>
          <a:xfrm>
            <a:off x="457200" y="1371600"/>
            <a:ext cx="438912"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987552" y="1307592"/>
            <a:ext cx="3383280" cy="274320"/>
          </a:xfrm>
          <a:prstGeom prst="rect">
            <a:avLst/>
          </a:prstGeom>
          <a:noFill/>
          <a:ln/>
        </p:spPr>
        <p:txBody>
          <a:bodyPr wrap="square" rtlCol="0" anchor="ctr"/>
          <a:lstStyle/>
          <a:p>
            <a:pPr indent="0" marL="0">
              <a:buNone/>
            </a:pPr>
            <a:r>
              <a:rPr lang="en-US" sz="1150" b="1" dirty="0">
                <a:solidFill>
                  <a:srgbClr val="1A2E3C"/>
                </a:solidFill>
                <a:latin typeface="Calibri" pitchFamily="34" charset="0"/>
                <a:ea typeface="Calibri" pitchFamily="34" charset="-122"/>
                <a:cs typeface="Calibri" pitchFamily="34" charset="-120"/>
              </a:rPr>
              <a:t>Problem Statement</a:t>
            </a:r>
            <a:endParaRPr lang="en-US" sz="1150" dirty="0"/>
          </a:p>
        </p:txBody>
      </p:sp>
      <p:sp>
        <p:nvSpPr>
          <p:cNvPr id="8" name="Text 6"/>
          <p:cNvSpPr/>
          <p:nvPr/>
        </p:nvSpPr>
        <p:spPr>
          <a:xfrm>
            <a:off x="987552" y="1618488"/>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Why AQI analysis matters for India</a:t>
            </a:r>
            <a:endParaRPr lang="en-US" sz="900" dirty="0"/>
          </a:p>
        </p:txBody>
      </p:sp>
      <p:sp>
        <p:nvSpPr>
          <p:cNvPr id="9" name="Shape 7"/>
          <p:cNvSpPr/>
          <p:nvPr/>
        </p:nvSpPr>
        <p:spPr>
          <a:xfrm>
            <a:off x="365760" y="2130552"/>
            <a:ext cx="4114800" cy="749808"/>
          </a:xfrm>
          <a:prstGeom prst="roundRect">
            <a:avLst>
              <a:gd name="adj" fmla="val 97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0" name="Shape 8"/>
          <p:cNvSpPr/>
          <p:nvPr/>
        </p:nvSpPr>
        <p:spPr>
          <a:xfrm>
            <a:off x="457200" y="2267712"/>
            <a:ext cx="438912" cy="438912"/>
          </a:xfrm>
          <a:prstGeom prst="roundRect">
            <a:avLst>
              <a:gd name="adj" fmla="val 12500"/>
            </a:avLst>
          </a:prstGeom>
          <a:solidFill>
            <a:srgbClr val="0077B6"/>
          </a:solidFill>
          <a:ln w="12700">
            <a:solidFill>
              <a:srgbClr val="0077B6"/>
            </a:solidFill>
            <a:prstDash val="solid"/>
          </a:ln>
        </p:spPr>
      </p:sp>
      <p:sp>
        <p:nvSpPr>
          <p:cNvPr id="11" name="Text 9"/>
          <p:cNvSpPr/>
          <p:nvPr/>
        </p:nvSpPr>
        <p:spPr>
          <a:xfrm>
            <a:off x="457200" y="2267712"/>
            <a:ext cx="438912"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987552" y="2203704"/>
            <a:ext cx="3383280" cy="274320"/>
          </a:xfrm>
          <a:prstGeom prst="rect">
            <a:avLst/>
          </a:prstGeom>
          <a:noFill/>
          <a:ln/>
        </p:spPr>
        <p:txBody>
          <a:bodyPr wrap="square" rtlCol="0" anchor="ctr"/>
          <a:lstStyle/>
          <a:p>
            <a:pPr indent="0" marL="0">
              <a:buNone/>
            </a:pPr>
            <a:r>
              <a:rPr lang="en-US" sz="1150" b="1" dirty="0">
                <a:solidFill>
                  <a:srgbClr val="1A2E3C"/>
                </a:solidFill>
                <a:latin typeface="Calibri" pitchFamily="34" charset="0"/>
                <a:ea typeface="Calibri" pitchFamily="34" charset="-122"/>
                <a:cs typeface="Calibri" pitchFamily="34" charset="-120"/>
              </a:rPr>
              <a:t>Dataset Overview</a:t>
            </a:r>
            <a:endParaRPr lang="en-US" sz="1150" dirty="0"/>
          </a:p>
        </p:txBody>
      </p:sp>
      <p:sp>
        <p:nvSpPr>
          <p:cNvPr id="13" name="Text 11"/>
          <p:cNvSpPr/>
          <p:nvPr/>
        </p:nvSpPr>
        <p:spPr>
          <a:xfrm>
            <a:off x="987552" y="2514600"/>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546 station files, 15 years of data</a:t>
            </a:r>
            <a:endParaRPr lang="en-US" sz="900" dirty="0"/>
          </a:p>
        </p:txBody>
      </p:sp>
      <p:sp>
        <p:nvSpPr>
          <p:cNvPr id="14" name="Shape 12"/>
          <p:cNvSpPr/>
          <p:nvPr/>
        </p:nvSpPr>
        <p:spPr>
          <a:xfrm>
            <a:off x="365760" y="3026664"/>
            <a:ext cx="4114800" cy="749808"/>
          </a:xfrm>
          <a:prstGeom prst="roundRect">
            <a:avLst>
              <a:gd name="adj" fmla="val 97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5" name="Shape 13"/>
          <p:cNvSpPr/>
          <p:nvPr/>
        </p:nvSpPr>
        <p:spPr>
          <a:xfrm>
            <a:off x="457200" y="3163824"/>
            <a:ext cx="438912" cy="438912"/>
          </a:xfrm>
          <a:prstGeom prst="roundRect">
            <a:avLst>
              <a:gd name="adj" fmla="val 12500"/>
            </a:avLst>
          </a:prstGeom>
          <a:solidFill>
            <a:srgbClr val="0077B6"/>
          </a:solidFill>
          <a:ln w="12700">
            <a:solidFill>
              <a:srgbClr val="0077B6"/>
            </a:solidFill>
            <a:prstDash val="solid"/>
          </a:ln>
        </p:spPr>
      </p:sp>
      <p:sp>
        <p:nvSpPr>
          <p:cNvPr id="16" name="Text 14"/>
          <p:cNvSpPr/>
          <p:nvPr/>
        </p:nvSpPr>
        <p:spPr>
          <a:xfrm>
            <a:off x="457200" y="3163824"/>
            <a:ext cx="438912"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7" name="Text 15"/>
          <p:cNvSpPr/>
          <p:nvPr/>
        </p:nvSpPr>
        <p:spPr>
          <a:xfrm>
            <a:off x="987552" y="3099816"/>
            <a:ext cx="3383280" cy="274320"/>
          </a:xfrm>
          <a:prstGeom prst="rect">
            <a:avLst/>
          </a:prstGeom>
          <a:noFill/>
          <a:ln/>
        </p:spPr>
        <p:txBody>
          <a:bodyPr wrap="square" rtlCol="0" anchor="ctr"/>
          <a:lstStyle/>
          <a:p>
            <a:pPr indent="0" marL="0">
              <a:buNone/>
            </a:pPr>
            <a:r>
              <a:rPr lang="en-US" sz="1150" b="1" dirty="0">
                <a:solidFill>
                  <a:srgbClr val="1A2E3C"/>
                </a:solidFill>
                <a:latin typeface="Calibri" pitchFamily="34" charset="0"/>
                <a:ea typeface="Calibri" pitchFamily="34" charset="-122"/>
                <a:cs typeface="Calibri" pitchFamily="34" charset="-120"/>
              </a:rPr>
              <a:t>Tools &amp; Methods</a:t>
            </a:r>
            <a:endParaRPr lang="en-US" sz="1150" dirty="0"/>
          </a:p>
        </p:txBody>
      </p:sp>
      <p:sp>
        <p:nvSpPr>
          <p:cNvPr id="18" name="Text 16"/>
          <p:cNvSpPr/>
          <p:nvPr/>
        </p:nvSpPr>
        <p:spPr>
          <a:xfrm>
            <a:off x="987552" y="3410712"/>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Python, Pandas, Matplotlib, Seaborn, EDA</a:t>
            </a:r>
            <a:endParaRPr lang="en-US" sz="900" dirty="0"/>
          </a:p>
        </p:txBody>
      </p:sp>
      <p:sp>
        <p:nvSpPr>
          <p:cNvPr id="19" name="Shape 17"/>
          <p:cNvSpPr/>
          <p:nvPr/>
        </p:nvSpPr>
        <p:spPr>
          <a:xfrm>
            <a:off x="365760" y="3922776"/>
            <a:ext cx="4114800" cy="749808"/>
          </a:xfrm>
          <a:prstGeom prst="roundRect">
            <a:avLst>
              <a:gd name="adj" fmla="val 97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20" name="Shape 18"/>
          <p:cNvSpPr/>
          <p:nvPr/>
        </p:nvSpPr>
        <p:spPr>
          <a:xfrm>
            <a:off x="457200" y="4059936"/>
            <a:ext cx="438912" cy="438912"/>
          </a:xfrm>
          <a:prstGeom prst="roundRect">
            <a:avLst>
              <a:gd name="adj" fmla="val 12500"/>
            </a:avLst>
          </a:prstGeom>
          <a:solidFill>
            <a:srgbClr val="0077B6"/>
          </a:solidFill>
          <a:ln w="12700">
            <a:solidFill>
              <a:srgbClr val="0077B6"/>
            </a:solidFill>
            <a:prstDash val="solid"/>
          </a:ln>
        </p:spPr>
      </p:sp>
      <p:sp>
        <p:nvSpPr>
          <p:cNvPr id="21" name="Text 19"/>
          <p:cNvSpPr/>
          <p:nvPr/>
        </p:nvSpPr>
        <p:spPr>
          <a:xfrm>
            <a:off x="457200" y="4059936"/>
            <a:ext cx="438912"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20"/>
          <p:cNvSpPr/>
          <p:nvPr/>
        </p:nvSpPr>
        <p:spPr>
          <a:xfrm>
            <a:off x="987552" y="3995928"/>
            <a:ext cx="3383280" cy="274320"/>
          </a:xfrm>
          <a:prstGeom prst="rect">
            <a:avLst/>
          </a:prstGeom>
          <a:noFill/>
          <a:ln/>
        </p:spPr>
        <p:txBody>
          <a:bodyPr wrap="square" rtlCol="0" anchor="ctr"/>
          <a:lstStyle/>
          <a:p>
            <a:pPr indent="0" marL="0">
              <a:buNone/>
            </a:pPr>
            <a:r>
              <a:rPr lang="en-US" sz="1150" b="1" dirty="0">
                <a:solidFill>
                  <a:srgbClr val="1A2E3C"/>
                </a:solidFill>
                <a:latin typeface="Calibri" pitchFamily="34" charset="0"/>
                <a:ea typeface="Calibri" pitchFamily="34" charset="-122"/>
                <a:cs typeface="Calibri" pitchFamily="34" charset="-120"/>
              </a:rPr>
              <a:t>National AQI Trend</a:t>
            </a:r>
            <a:endParaRPr lang="en-US" sz="1150" dirty="0"/>
          </a:p>
        </p:txBody>
      </p:sp>
      <p:sp>
        <p:nvSpPr>
          <p:cNvPr id="23" name="Text 21"/>
          <p:cNvSpPr/>
          <p:nvPr/>
        </p:nvSpPr>
        <p:spPr>
          <a:xfrm>
            <a:off x="987552" y="4306824"/>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2009–2024 India-wide trend analysis</a:t>
            </a:r>
            <a:endParaRPr lang="en-US" sz="900" dirty="0"/>
          </a:p>
        </p:txBody>
      </p:sp>
      <p:sp>
        <p:nvSpPr>
          <p:cNvPr id="24" name="Shape 22"/>
          <p:cNvSpPr/>
          <p:nvPr/>
        </p:nvSpPr>
        <p:spPr>
          <a:xfrm>
            <a:off x="4663440" y="1234440"/>
            <a:ext cx="4114800" cy="749808"/>
          </a:xfrm>
          <a:prstGeom prst="roundRect">
            <a:avLst>
              <a:gd name="adj" fmla="val 97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4754880" y="1371600"/>
            <a:ext cx="438912" cy="438912"/>
          </a:xfrm>
          <a:prstGeom prst="roundRect">
            <a:avLst>
              <a:gd name="adj" fmla="val 12500"/>
            </a:avLst>
          </a:prstGeom>
          <a:solidFill>
            <a:srgbClr val="0077B6"/>
          </a:solidFill>
          <a:ln w="12700">
            <a:solidFill>
              <a:srgbClr val="0077B6"/>
            </a:solidFill>
            <a:prstDash val="solid"/>
          </a:ln>
        </p:spPr>
      </p:sp>
      <p:sp>
        <p:nvSpPr>
          <p:cNvPr id="26" name="Text 24"/>
          <p:cNvSpPr/>
          <p:nvPr/>
        </p:nvSpPr>
        <p:spPr>
          <a:xfrm>
            <a:off x="4754880" y="1371600"/>
            <a:ext cx="438912"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7" name="Text 25"/>
          <p:cNvSpPr/>
          <p:nvPr/>
        </p:nvSpPr>
        <p:spPr>
          <a:xfrm>
            <a:off x="5285232" y="1307592"/>
            <a:ext cx="3383280" cy="274320"/>
          </a:xfrm>
          <a:prstGeom prst="rect">
            <a:avLst/>
          </a:prstGeom>
          <a:noFill/>
          <a:ln/>
        </p:spPr>
        <p:txBody>
          <a:bodyPr wrap="square" rtlCol="0" anchor="ctr"/>
          <a:lstStyle/>
          <a:p>
            <a:pPr indent="0" marL="0">
              <a:buNone/>
            </a:pPr>
            <a:r>
              <a:rPr lang="en-US" sz="1150" b="1" dirty="0">
                <a:solidFill>
                  <a:srgbClr val="1A2E3C"/>
                </a:solidFill>
                <a:latin typeface="Calibri" pitchFamily="34" charset="0"/>
                <a:ea typeface="Calibri" pitchFamily="34" charset="-122"/>
                <a:cs typeface="Calibri" pitchFamily="34" charset="-120"/>
              </a:rPr>
              <a:t>State &amp; City Analysis</a:t>
            </a:r>
            <a:endParaRPr lang="en-US" sz="1150" dirty="0"/>
          </a:p>
        </p:txBody>
      </p:sp>
      <p:sp>
        <p:nvSpPr>
          <p:cNvPr id="28" name="Text 26"/>
          <p:cNvSpPr/>
          <p:nvPr/>
        </p:nvSpPr>
        <p:spPr>
          <a:xfrm>
            <a:off x="5285232" y="1618488"/>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Top polluted &amp; cleanest regions</a:t>
            </a:r>
            <a:endParaRPr lang="en-US" sz="900" dirty="0"/>
          </a:p>
        </p:txBody>
      </p:sp>
      <p:sp>
        <p:nvSpPr>
          <p:cNvPr id="29" name="Shape 27"/>
          <p:cNvSpPr/>
          <p:nvPr/>
        </p:nvSpPr>
        <p:spPr>
          <a:xfrm>
            <a:off x="4663440" y="2130552"/>
            <a:ext cx="4114800" cy="749808"/>
          </a:xfrm>
          <a:prstGeom prst="roundRect">
            <a:avLst>
              <a:gd name="adj" fmla="val 97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30" name="Shape 28"/>
          <p:cNvSpPr/>
          <p:nvPr/>
        </p:nvSpPr>
        <p:spPr>
          <a:xfrm>
            <a:off x="4754880" y="2267712"/>
            <a:ext cx="438912" cy="438912"/>
          </a:xfrm>
          <a:prstGeom prst="roundRect">
            <a:avLst>
              <a:gd name="adj" fmla="val 12500"/>
            </a:avLst>
          </a:prstGeom>
          <a:solidFill>
            <a:srgbClr val="0077B6"/>
          </a:solidFill>
          <a:ln w="12700">
            <a:solidFill>
              <a:srgbClr val="0077B6"/>
            </a:solidFill>
            <a:prstDash val="solid"/>
          </a:ln>
        </p:spPr>
      </p:sp>
      <p:sp>
        <p:nvSpPr>
          <p:cNvPr id="31" name="Text 29"/>
          <p:cNvSpPr/>
          <p:nvPr/>
        </p:nvSpPr>
        <p:spPr>
          <a:xfrm>
            <a:off x="4754880" y="2267712"/>
            <a:ext cx="438912"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2" name="Text 30"/>
          <p:cNvSpPr/>
          <p:nvPr/>
        </p:nvSpPr>
        <p:spPr>
          <a:xfrm>
            <a:off x="5285232" y="2203704"/>
            <a:ext cx="3383280" cy="274320"/>
          </a:xfrm>
          <a:prstGeom prst="rect">
            <a:avLst/>
          </a:prstGeom>
          <a:noFill/>
          <a:ln/>
        </p:spPr>
        <p:txBody>
          <a:bodyPr wrap="square" rtlCol="0" anchor="ctr"/>
          <a:lstStyle/>
          <a:p>
            <a:pPr indent="0" marL="0">
              <a:buNone/>
            </a:pPr>
            <a:r>
              <a:rPr lang="en-US" sz="1150" b="1" dirty="0">
                <a:solidFill>
                  <a:srgbClr val="1A2E3C"/>
                </a:solidFill>
                <a:latin typeface="Calibri" pitchFamily="34" charset="0"/>
                <a:ea typeface="Calibri" pitchFamily="34" charset="-122"/>
                <a:cs typeface="Calibri" pitchFamily="34" charset="-120"/>
              </a:rPr>
              <a:t>Seasonal Patterns</a:t>
            </a:r>
            <a:endParaRPr lang="en-US" sz="1150" dirty="0"/>
          </a:p>
        </p:txBody>
      </p:sp>
      <p:sp>
        <p:nvSpPr>
          <p:cNvPr id="33" name="Text 31"/>
          <p:cNvSpPr/>
          <p:nvPr/>
        </p:nvSpPr>
        <p:spPr>
          <a:xfrm>
            <a:off x="5285232" y="2514600"/>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Month, season &amp; year×month heatmap</a:t>
            </a:r>
            <a:endParaRPr lang="en-US" sz="900" dirty="0"/>
          </a:p>
        </p:txBody>
      </p:sp>
      <p:sp>
        <p:nvSpPr>
          <p:cNvPr id="34" name="Shape 32"/>
          <p:cNvSpPr/>
          <p:nvPr/>
        </p:nvSpPr>
        <p:spPr>
          <a:xfrm>
            <a:off x="4663440" y="3026664"/>
            <a:ext cx="4114800" cy="749808"/>
          </a:xfrm>
          <a:prstGeom prst="roundRect">
            <a:avLst>
              <a:gd name="adj" fmla="val 97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35" name="Shape 33"/>
          <p:cNvSpPr/>
          <p:nvPr/>
        </p:nvSpPr>
        <p:spPr>
          <a:xfrm>
            <a:off x="4754880" y="3163824"/>
            <a:ext cx="438912" cy="438912"/>
          </a:xfrm>
          <a:prstGeom prst="roundRect">
            <a:avLst>
              <a:gd name="adj" fmla="val 12500"/>
            </a:avLst>
          </a:prstGeom>
          <a:solidFill>
            <a:srgbClr val="0077B6"/>
          </a:solidFill>
          <a:ln w="12700">
            <a:solidFill>
              <a:srgbClr val="0077B6"/>
            </a:solidFill>
            <a:prstDash val="solid"/>
          </a:ln>
        </p:spPr>
      </p:sp>
      <p:sp>
        <p:nvSpPr>
          <p:cNvPr id="36" name="Text 34"/>
          <p:cNvSpPr/>
          <p:nvPr/>
        </p:nvSpPr>
        <p:spPr>
          <a:xfrm>
            <a:off x="4754880" y="3163824"/>
            <a:ext cx="438912"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7" name="Text 35"/>
          <p:cNvSpPr/>
          <p:nvPr/>
        </p:nvSpPr>
        <p:spPr>
          <a:xfrm>
            <a:off x="5285232" y="3099816"/>
            <a:ext cx="3383280" cy="274320"/>
          </a:xfrm>
          <a:prstGeom prst="rect">
            <a:avLst/>
          </a:prstGeom>
          <a:noFill/>
          <a:ln/>
        </p:spPr>
        <p:txBody>
          <a:bodyPr wrap="square" rtlCol="0" anchor="ctr"/>
          <a:lstStyle/>
          <a:p>
            <a:pPr indent="0" marL="0">
              <a:buNone/>
            </a:pPr>
            <a:r>
              <a:rPr lang="en-US" sz="1150" b="1" dirty="0">
                <a:solidFill>
                  <a:srgbClr val="1A2E3C"/>
                </a:solidFill>
                <a:latin typeface="Calibri" pitchFamily="34" charset="0"/>
                <a:ea typeface="Calibri" pitchFamily="34" charset="-122"/>
                <a:cs typeface="Calibri" pitchFamily="34" charset="-120"/>
              </a:rPr>
              <a:t>Pollutant Deep Dive</a:t>
            </a:r>
            <a:endParaRPr lang="en-US" sz="1150" dirty="0"/>
          </a:p>
        </p:txBody>
      </p:sp>
      <p:sp>
        <p:nvSpPr>
          <p:cNvPr id="38" name="Text 36"/>
          <p:cNvSpPr/>
          <p:nvPr/>
        </p:nvSpPr>
        <p:spPr>
          <a:xfrm>
            <a:off x="5285232" y="3410712"/>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PM2.5, PM10, NO2, SO2 and more</a:t>
            </a:r>
            <a:endParaRPr lang="en-US" sz="900" dirty="0"/>
          </a:p>
        </p:txBody>
      </p:sp>
      <p:sp>
        <p:nvSpPr>
          <p:cNvPr id="39" name="Shape 37"/>
          <p:cNvSpPr/>
          <p:nvPr/>
        </p:nvSpPr>
        <p:spPr>
          <a:xfrm>
            <a:off x="4663440" y="3922776"/>
            <a:ext cx="4114800" cy="749808"/>
          </a:xfrm>
          <a:prstGeom prst="roundRect">
            <a:avLst>
              <a:gd name="adj" fmla="val 97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40" name="Shape 38"/>
          <p:cNvSpPr/>
          <p:nvPr/>
        </p:nvSpPr>
        <p:spPr>
          <a:xfrm>
            <a:off x="4754880" y="4059936"/>
            <a:ext cx="438912" cy="438912"/>
          </a:xfrm>
          <a:prstGeom prst="roundRect">
            <a:avLst>
              <a:gd name="adj" fmla="val 12500"/>
            </a:avLst>
          </a:prstGeom>
          <a:solidFill>
            <a:srgbClr val="0077B6"/>
          </a:solidFill>
          <a:ln w="12700">
            <a:solidFill>
              <a:srgbClr val="0077B6"/>
            </a:solidFill>
            <a:prstDash val="solid"/>
          </a:ln>
        </p:spPr>
      </p:sp>
      <p:sp>
        <p:nvSpPr>
          <p:cNvPr id="41" name="Text 39"/>
          <p:cNvSpPr/>
          <p:nvPr/>
        </p:nvSpPr>
        <p:spPr>
          <a:xfrm>
            <a:off x="4754880" y="4059936"/>
            <a:ext cx="438912"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42" name="Text 40"/>
          <p:cNvSpPr/>
          <p:nvPr/>
        </p:nvSpPr>
        <p:spPr>
          <a:xfrm>
            <a:off x="5285232" y="3995928"/>
            <a:ext cx="3383280" cy="274320"/>
          </a:xfrm>
          <a:prstGeom prst="rect">
            <a:avLst/>
          </a:prstGeom>
          <a:noFill/>
          <a:ln/>
        </p:spPr>
        <p:txBody>
          <a:bodyPr wrap="square" rtlCol="0" anchor="ctr"/>
          <a:lstStyle/>
          <a:p>
            <a:pPr indent="0" marL="0">
              <a:buNone/>
            </a:pPr>
            <a:r>
              <a:rPr lang="en-US" sz="1150" b="1" dirty="0">
                <a:solidFill>
                  <a:srgbClr val="1A2E3C"/>
                </a:solidFill>
                <a:latin typeface="Calibri" pitchFamily="34" charset="0"/>
                <a:ea typeface="Calibri" pitchFamily="34" charset="-122"/>
                <a:cs typeface="Calibri" pitchFamily="34" charset="-120"/>
              </a:rPr>
              <a:t>Conclusion</a:t>
            </a:r>
            <a:endParaRPr lang="en-US" sz="1150" dirty="0"/>
          </a:p>
        </p:txBody>
      </p:sp>
      <p:sp>
        <p:nvSpPr>
          <p:cNvPr id="43" name="Text 41"/>
          <p:cNvSpPr/>
          <p:nvPr/>
        </p:nvSpPr>
        <p:spPr>
          <a:xfrm>
            <a:off x="5285232" y="4306824"/>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Key findings &amp; future scope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A3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00B4D8"/>
                </a:solidFill>
                <a:latin typeface="Calibri" pitchFamily="34" charset="0"/>
                <a:ea typeface="Calibri" pitchFamily="34" charset="-122"/>
                <a:cs typeface="Calibri" pitchFamily="34" charset="-120"/>
              </a:rPr>
              <a:t>PROBLEM STATEMENT</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Does India's Air Quality Matter?</a:t>
            </a:r>
            <a:endParaRPr lang="en-US" sz="2600" dirty="0"/>
          </a:p>
        </p:txBody>
      </p:sp>
      <p:sp>
        <p:nvSpPr>
          <p:cNvPr id="4" name="Shape 2"/>
          <p:cNvSpPr/>
          <p:nvPr/>
        </p:nvSpPr>
        <p:spPr>
          <a:xfrm>
            <a:off x="365760" y="1234440"/>
            <a:ext cx="2651760" cy="3291840"/>
          </a:xfrm>
          <a:prstGeom prst="roundRect">
            <a:avLst>
              <a:gd name="adj" fmla="val 4138"/>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365760" y="1371600"/>
            <a:ext cx="265176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365760" y="1965960"/>
            <a:ext cx="2651760" cy="365760"/>
          </a:xfrm>
          <a:prstGeom prst="rect">
            <a:avLst/>
          </a:prstGeom>
          <a:noFill/>
          <a:ln/>
        </p:spPr>
        <p:txBody>
          <a:bodyPr wrap="square"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Industrialization</a:t>
            </a:r>
            <a:endParaRPr lang="en-US" sz="1300" dirty="0"/>
          </a:p>
        </p:txBody>
      </p:sp>
      <p:sp>
        <p:nvSpPr>
          <p:cNvPr id="7" name="Text 5"/>
          <p:cNvSpPr/>
          <p:nvPr/>
        </p:nvSpPr>
        <p:spPr>
          <a:xfrm>
            <a:off x="502920" y="2377440"/>
            <a:ext cx="2377440" cy="1920240"/>
          </a:xfrm>
          <a:prstGeom prst="rect">
            <a:avLst/>
          </a:prstGeom>
          <a:noFill/>
          <a:ln/>
        </p:spPr>
        <p:txBody>
          <a:bodyPr wrap="square" rtlCol="0" anchor="t"/>
          <a:lstStyle/>
          <a:p>
            <a:pPr indent="0" marL="0">
              <a:lnSpc>
                <a:spcPct val="130000"/>
              </a:lnSpc>
              <a:buNone/>
            </a:pPr>
            <a:r>
              <a:rPr lang="en-US" sz="950" dirty="0">
                <a:solidFill>
                  <a:srgbClr val="C8DFF0"/>
                </a:solidFill>
                <a:latin typeface="Calibri" pitchFamily="34" charset="0"/>
                <a:ea typeface="Calibri" pitchFamily="34" charset="-122"/>
                <a:cs typeface="Calibri" pitchFamily="34" charset="-120"/>
              </a:rPr>
              <a:t>Rapid industrial growth in North India has led to toxic emissions from factories, power plants and construction sites — making states like Delhi, Bihar and Punjab among the world's most polluted regions.</a:t>
            </a:r>
            <a:endParaRPr lang="en-US" sz="950" dirty="0"/>
          </a:p>
        </p:txBody>
      </p:sp>
      <p:sp>
        <p:nvSpPr>
          <p:cNvPr id="8" name="Shape 6"/>
          <p:cNvSpPr/>
          <p:nvPr/>
        </p:nvSpPr>
        <p:spPr>
          <a:xfrm>
            <a:off x="3200400" y="1234440"/>
            <a:ext cx="2651760" cy="3291840"/>
          </a:xfrm>
          <a:prstGeom prst="roundRect">
            <a:avLst>
              <a:gd name="adj" fmla="val 4138"/>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3200400" y="1371600"/>
            <a:ext cx="265176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200400" y="1965960"/>
            <a:ext cx="2651760" cy="365760"/>
          </a:xfrm>
          <a:prstGeom prst="rect">
            <a:avLst/>
          </a:prstGeom>
          <a:noFill/>
          <a:ln/>
        </p:spPr>
        <p:txBody>
          <a:bodyPr wrap="square"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Agricultural Burning</a:t>
            </a:r>
            <a:endParaRPr lang="en-US" sz="1300" dirty="0"/>
          </a:p>
        </p:txBody>
      </p:sp>
      <p:sp>
        <p:nvSpPr>
          <p:cNvPr id="11" name="Text 9"/>
          <p:cNvSpPr/>
          <p:nvPr/>
        </p:nvSpPr>
        <p:spPr>
          <a:xfrm>
            <a:off x="3337560" y="2377440"/>
            <a:ext cx="2377440" cy="1920240"/>
          </a:xfrm>
          <a:prstGeom prst="rect">
            <a:avLst/>
          </a:prstGeom>
          <a:noFill/>
          <a:ln/>
        </p:spPr>
        <p:txBody>
          <a:bodyPr wrap="square" rtlCol="0" anchor="t"/>
          <a:lstStyle/>
          <a:p>
            <a:pPr indent="0" marL="0">
              <a:lnSpc>
                <a:spcPct val="130000"/>
              </a:lnSpc>
              <a:buNone/>
            </a:pPr>
            <a:r>
              <a:rPr lang="en-US" sz="950" dirty="0">
                <a:solidFill>
                  <a:srgbClr val="C8DFF0"/>
                </a:solidFill>
                <a:latin typeface="Calibri" pitchFamily="34" charset="0"/>
                <a:ea typeface="Calibri" pitchFamily="34" charset="-122"/>
                <a:cs typeface="Calibri" pitchFamily="34" charset="-120"/>
              </a:rPr>
              <a:t>Punjab and Haryana burn crop stubble every November, causing AQI to spike to 179+ in Punjab alone. This practice affects millions of people across North India every harvest season.</a:t>
            </a:r>
            <a:endParaRPr lang="en-US" sz="950" dirty="0"/>
          </a:p>
        </p:txBody>
      </p:sp>
      <p:sp>
        <p:nvSpPr>
          <p:cNvPr id="12" name="Shape 10"/>
          <p:cNvSpPr/>
          <p:nvPr/>
        </p:nvSpPr>
        <p:spPr>
          <a:xfrm>
            <a:off x="6035040" y="1234440"/>
            <a:ext cx="2651760" cy="3291840"/>
          </a:xfrm>
          <a:prstGeom prst="roundRect">
            <a:avLst>
              <a:gd name="adj" fmla="val 4138"/>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6035040" y="1371600"/>
            <a:ext cx="265176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035040" y="1965960"/>
            <a:ext cx="2651760" cy="365760"/>
          </a:xfrm>
          <a:prstGeom prst="rect">
            <a:avLst/>
          </a:prstGeom>
          <a:noFill/>
          <a:ln/>
        </p:spPr>
        <p:txBody>
          <a:bodyPr wrap="square" rtlCol="0" anchor="ctr"/>
          <a:lstStyle/>
          <a:p>
            <a:pPr algn="ctr" indent="0" marL="0">
              <a:buNone/>
            </a:pPr>
            <a:r>
              <a:rPr lang="en-US" sz="1300" b="1" dirty="0">
                <a:solidFill>
                  <a:srgbClr val="00B4D8"/>
                </a:solidFill>
                <a:latin typeface="Calibri" pitchFamily="34" charset="0"/>
                <a:ea typeface="Calibri" pitchFamily="34" charset="-122"/>
                <a:cs typeface="Calibri" pitchFamily="34" charset="-120"/>
              </a:rPr>
              <a:t>Vehicular Pollution</a:t>
            </a:r>
            <a:endParaRPr lang="en-US" sz="1300" dirty="0"/>
          </a:p>
        </p:txBody>
      </p:sp>
      <p:sp>
        <p:nvSpPr>
          <p:cNvPr id="15" name="Text 13"/>
          <p:cNvSpPr/>
          <p:nvPr/>
        </p:nvSpPr>
        <p:spPr>
          <a:xfrm>
            <a:off x="6172200" y="2377440"/>
            <a:ext cx="2377440" cy="1920240"/>
          </a:xfrm>
          <a:prstGeom prst="rect">
            <a:avLst/>
          </a:prstGeom>
          <a:noFill/>
          <a:ln/>
        </p:spPr>
        <p:txBody>
          <a:bodyPr wrap="square" rtlCol="0" anchor="t"/>
          <a:lstStyle/>
          <a:p>
            <a:pPr indent="0" marL="0">
              <a:lnSpc>
                <a:spcPct val="130000"/>
              </a:lnSpc>
              <a:buNone/>
            </a:pPr>
            <a:r>
              <a:rPr lang="en-US" sz="950" dirty="0">
                <a:solidFill>
                  <a:srgbClr val="C8DFF0"/>
                </a:solidFill>
                <a:latin typeface="Calibri" pitchFamily="34" charset="0"/>
                <a:ea typeface="Calibri" pitchFamily="34" charset="-122"/>
                <a:cs typeface="Calibri" pitchFamily="34" charset="-120"/>
              </a:rPr>
              <a:t>India has one of the world's largest vehicle populations. Vehicle exhaust is the primary source of NO2 and PM2.5 in urban centres, contributing directly to the chronically Moderate AQI across all cities.</a:t>
            </a:r>
            <a:endParaRPr lang="en-US" sz="950" dirty="0"/>
          </a:p>
        </p:txBody>
      </p:sp>
      <p:sp>
        <p:nvSpPr>
          <p:cNvPr id="16" name="Text 14"/>
          <p:cNvSpPr/>
          <p:nvPr/>
        </p:nvSpPr>
        <p:spPr>
          <a:xfrm>
            <a:off x="457200" y="4663440"/>
            <a:ext cx="8229600" cy="320040"/>
          </a:xfrm>
          <a:prstGeom prst="rect">
            <a:avLst/>
          </a:prstGeom>
          <a:noFill/>
          <a:ln/>
        </p:spPr>
        <p:txBody>
          <a:bodyPr wrap="square" rtlCol="0" anchor="ctr"/>
          <a:lstStyle/>
          <a:p>
            <a:pPr algn="ctr" indent="0" marL="0">
              <a:buNone/>
            </a:pPr>
            <a:r>
              <a:rPr lang="en-US" sz="950" i="1" dirty="0">
                <a:solidFill>
                  <a:srgbClr val="F4A261"/>
                </a:solidFill>
                <a:latin typeface="Calibri" pitchFamily="34" charset="0"/>
                <a:ea typeface="Calibri" pitchFamily="34" charset="-122"/>
                <a:cs typeface="Calibri" pitchFamily="34" charset="-120"/>
              </a:rPr>
              <a:t>India's average AQI is consistently in the MODERATE range — meaning air is not safe to breathe for sensitive groups on most days of the year.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4A6FA5"/>
                </a:solidFill>
                <a:latin typeface="Calibri" pitchFamily="34" charset="0"/>
                <a:ea typeface="Calibri" pitchFamily="34" charset="-122"/>
                <a:cs typeface="Calibri" pitchFamily="34" charset="-120"/>
              </a:rPr>
              <a:t>DATASET</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800" b="1" dirty="0">
                <a:solidFill>
                  <a:srgbClr val="1A2E3C"/>
                </a:solidFill>
                <a:latin typeface="Calibri" pitchFamily="34" charset="0"/>
                <a:ea typeface="Calibri" pitchFamily="34" charset="-122"/>
                <a:cs typeface="Calibri" pitchFamily="34" charset="-120"/>
              </a:rPr>
              <a:t>Dataset Overview</a:t>
            </a:r>
            <a:endParaRPr lang="en-US" sz="2800" dirty="0"/>
          </a:p>
        </p:txBody>
      </p:sp>
      <p:sp>
        <p:nvSpPr>
          <p:cNvPr id="4" name="Shape 2"/>
          <p:cNvSpPr/>
          <p:nvPr/>
        </p:nvSpPr>
        <p:spPr>
          <a:xfrm>
            <a:off x="365760" y="1234440"/>
            <a:ext cx="5303520" cy="502920"/>
          </a:xfrm>
          <a:prstGeom prst="roundRect">
            <a:avLst>
              <a:gd name="adj" fmla="val 1272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1325880"/>
            <a:ext cx="1280160" cy="320040"/>
          </a:xfrm>
          <a:prstGeom prst="rect">
            <a:avLst/>
          </a:prstGeom>
          <a:noFill/>
          <a:ln/>
        </p:spPr>
        <p:txBody>
          <a:bodyPr wrap="square" rtlCol="0" anchor="ctr"/>
          <a:lstStyle/>
          <a:p>
            <a:pPr indent="0" marL="0">
              <a:buNone/>
            </a:pPr>
            <a:r>
              <a:rPr lang="en-US" sz="1000" b="1" dirty="0">
                <a:solidFill>
                  <a:srgbClr val="0077B6"/>
                </a:solidFill>
                <a:latin typeface="Calibri" pitchFamily="34" charset="0"/>
                <a:ea typeface="Calibri" pitchFamily="34" charset="-122"/>
                <a:cs typeface="Calibri" pitchFamily="34" charset="-120"/>
              </a:rPr>
              <a:t>Source:</a:t>
            </a:r>
            <a:endParaRPr lang="en-US" sz="1000" dirty="0"/>
          </a:p>
        </p:txBody>
      </p:sp>
      <p:sp>
        <p:nvSpPr>
          <p:cNvPr id="6" name="Text 4"/>
          <p:cNvSpPr/>
          <p:nvPr/>
        </p:nvSpPr>
        <p:spPr>
          <a:xfrm>
            <a:off x="1920240" y="1325880"/>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CPCB via Kaggle (omsandeeppatil/indian-aqi-stations)</a:t>
            </a:r>
            <a:endParaRPr lang="en-US" sz="1000" dirty="0"/>
          </a:p>
        </p:txBody>
      </p:sp>
      <p:sp>
        <p:nvSpPr>
          <p:cNvPr id="7" name="Shape 5"/>
          <p:cNvSpPr/>
          <p:nvPr/>
        </p:nvSpPr>
        <p:spPr>
          <a:xfrm>
            <a:off x="365760" y="1847088"/>
            <a:ext cx="5303520" cy="502920"/>
          </a:xfrm>
          <a:prstGeom prst="roundRect">
            <a:avLst>
              <a:gd name="adj" fmla="val 1272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938528"/>
            <a:ext cx="1280160" cy="320040"/>
          </a:xfrm>
          <a:prstGeom prst="rect">
            <a:avLst/>
          </a:prstGeom>
          <a:noFill/>
          <a:ln/>
        </p:spPr>
        <p:txBody>
          <a:bodyPr wrap="square" rtlCol="0" anchor="ctr"/>
          <a:lstStyle/>
          <a:p>
            <a:pPr indent="0" marL="0">
              <a:buNone/>
            </a:pPr>
            <a:r>
              <a:rPr lang="en-US" sz="1000" b="1" dirty="0">
                <a:solidFill>
                  <a:srgbClr val="0077B6"/>
                </a:solidFill>
                <a:latin typeface="Calibri" pitchFamily="34" charset="0"/>
                <a:ea typeface="Calibri" pitchFamily="34" charset="-122"/>
                <a:cs typeface="Calibri" pitchFamily="34" charset="-120"/>
              </a:rPr>
              <a:t>Files:</a:t>
            </a:r>
            <a:endParaRPr lang="en-US" sz="1000" dirty="0"/>
          </a:p>
        </p:txBody>
      </p:sp>
      <p:sp>
        <p:nvSpPr>
          <p:cNvPr id="9" name="Text 7"/>
          <p:cNvSpPr/>
          <p:nvPr/>
        </p:nvSpPr>
        <p:spPr>
          <a:xfrm>
            <a:off x="1920240" y="1938528"/>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546 CSV files across 20 state folders + stations.csv</a:t>
            </a:r>
            <a:endParaRPr lang="en-US" sz="1000" dirty="0"/>
          </a:p>
        </p:txBody>
      </p:sp>
      <p:sp>
        <p:nvSpPr>
          <p:cNvPr id="10" name="Shape 8"/>
          <p:cNvSpPr/>
          <p:nvPr/>
        </p:nvSpPr>
        <p:spPr>
          <a:xfrm>
            <a:off x="365760" y="2459736"/>
            <a:ext cx="5303520" cy="502920"/>
          </a:xfrm>
          <a:prstGeom prst="roundRect">
            <a:avLst>
              <a:gd name="adj" fmla="val 1272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48640" y="2551176"/>
            <a:ext cx="1280160" cy="320040"/>
          </a:xfrm>
          <a:prstGeom prst="rect">
            <a:avLst/>
          </a:prstGeom>
          <a:noFill/>
          <a:ln/>
        </p:spPr>
        <p:txBody>
          <a:bodyPr wrap="square" rtlCol="0" anchor="ctr"/>
          <a:lstStyle/>
          <a:p>
            <a:pPr indent="0" marL="0">
              <a:buNone/>
            </a:pPr>
            <a:r>
              <a:rPr lang="en-US" sz="1000" b="1" dirty="0">
                <a:solidFill>
                  <a:srgbClr val="0077B6"/>
                </a:solidFill>
                <a:latin typeface="Calibri" pitchFamily="34" charset="0"/>
                <a:ea typeface="Calibri" pitchFamily="34" charset="-122"/>
                <a:cs typeface="Calibri" pitchFamily="34" charset="-120"/>
              </a:rPr>
              <a:t>Date Range:</a:t>
            </a:r>
            <a:endParaRPr lang="en-US" sz="1000" dirty="0"/>
          </a:p>
        </p:txBody>
      </p:sp>
      <p:sp>
        <p:nvSpPr>
          <p:cNvPr id="12" name="Text 10"/>
          <p:cNvSpPr/>
          <p:nvPr/>
        </p:nvSpPr>
        <p:spPr>
          <a:xfrm>
            <a:off x="1920240" y="2551176"/>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2009 – 2024 (15 years of hourly data)</a:t>
            </a:r>
            <a:endParaRPr lang="en-US" sz="1000" dirty="0"/>
          </a:p>
        </p:txBody>
      </p:sp>
      <p:sp>
        <p:nvSpPr>
          <p:cNvPr id="13" name="Shape 11"/>
          <p:cNvSpPr/>
          <p:nvPr/>
        </p:nvSpPr>
        <p:spPr>
          <a:xfrm>
            <a:off x="365760" y="3072384"/>
            <a:ext cx="5303520" cy="502920"/>
          </a:xfrm>
          <a:prstGeom prst="roundRect">
            <a:avLst>
              <a:gd name="adj" fmla="val 1272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548640" y="3163824"/>
            <a:ext cx="1280160" cy="320040"/>
          </a:xfrm>
          <a:prstGeom prst="rect">
            <a:avLst/>
          </a:prstGeom>
          <a:noFill/>
          <a:ln/>
        </p:spPr>
        <p:txBody>
          <a:bodyPr wrap="square" rtlCol="0" anchor="ctr"/>
          <a:lstStyle/>
          <a:p>
            <a:pPr indent="0" marL="0">
              <a:buNone/>
            </a:pPr>
            <a:r>
              <a:rPr lang="en-US" sz="1000" b="1" dirty="0">
                <a:solidFill>
                  <a:srgbClr val="0077B6"/>
                </a:solidFill>
                <a:latin typeface="Calibri" pitchFamily="34" charset="0"/>
                <a:ea typeface="Calibri" pitchFamily="34" charset="-122"/>
                <a:cs typeface="Calibri" pitchFamily="34" charset="-120"/>
              </a:rPr>
              <a:t>Total Records:</a:t>
            </a:r>
            <a:endParaRPr lang="en-US" sz="1000" dirty="0"/>
          </a:p>
        </p:txBody>
      </p:sp>
      <p:sp>
        <p:nvSpPr>
          <p:cNvPr id="15" name="Text 13"/>
          <p:cNvSpPr/>
          <p:nvPr/>
        </p:nvSpPr>
        <p:spPr>
          <a:xfrm>
            <a:off x="1920240" y="3163824"/>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7,38,097 daily readings after processing</a:t>
            </a:r>
            <a:endParaRPr lang="en-US" sz="1000" dirty="0"/>
          </a:p>
        </p:txBody>
      </p:sp>
      <p:sp>
        <p:nvSpPr>
          <p:cNvPr id="16" name="Shape 14"/>
          <p:cNvSpPr/>
          <p:nvPr/>
        </p:nvSpPr>
        <p:spPr>
          <a:xfrm>
            <a:off x="365760" y="3685032"/>
            <a:ext cx="5303520" cy="502920"/>
          </a:xfrm>
          <a:prstGeom prst="roundRect">
            <a:avLst>
              <a:gd name="adj" fmla="val 1272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548640" y="3776472"/>
            <a:ext cx="1280160" cy="320040"/>
          </a:xfrm>
          <a:prstGeom prst="rect">
            <a:avLst/>
          </a:prstGeom>
          <a:noFill/>
          <a:ln/>
        </p:spPr>
        <p:txBody>
          <a:bodyPr wrap="square" rtlCol="0" anchor="ctr"/>
          <a:lstStyle/>
          <a:p>
            <a:pPr indent="0" marL="0">
              <a:buNone/>
            </a:pPr>
            <a:r>
              <a:rPr lang="en-US" sz="1000" b="1" dirty="0">
                <a:solidFill>
                  <a:srgbClr val="0077B6"/>
                </a:solidFill>
                <a:latin typeface="Calibri" pitchFamily="34" charset="0"/>
                <a:ea typeface="Calibri" pitchFamily="34" charset="-122"/>
                <a:cs typeface="Calibri" pitchFamily="34" charset="-120"/>
              </a:rPr>
              <a:t>Pollutants:</a:t>
            </a:r>
            <a:endParaRPr lang="en-US" sz="1000" dirty="0"/>
          </a:p>
        </p:txBody>
      </p:sp>
      <p:sp>
        <p:nvSpPr>
          <p:cNvPr id="18" name="Text 16"/>
          <p:cNvSpPr/>
          <p:nvPr/>
        </p:nvSpPr>
        <p:spPr>
          <a:xfrm>
            <a:off x="1920240" y="3776472"/>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PM2.5, PM10, NO2, SO2, CO, Ozone, NH3</a:t>
            </a:r>
            <a:endParaRPr lang="en-US" sz="1000" dirty="0"/>
          </a:p>
        </p:txBody>
      </p:sp>
      <p:sp>
        <p:nvSpPr>
          <p:cNvPr id="19" name="Shape 17"/>
          <p:cNvSpPr/>
          <p:nvPr/>
        </p:nvSpPr>
        <p:spPr>
          <a:xfrm>
            <a:off x="365760" y="4297680"/>
            <a:ext cx="5303520" cy="502920"/>
          </a:xfrm>
          <a:prstGeom prst="roundRect">
            <a:avLst>
              <a:gd name="adj" fmla="val 1272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548640" y="4389120"/>
            <a:ext cx="1280160" cy="320040"/>
          </a:xfrm>
          <a:prstGeom prst="rect">
            <a:avLst/>
          </a:prstGeom>
          <a:noFill/>
          <a:ln/>
        </p:spPr>
        <p:txBody>
          <a:bodyPr wrap="square" rtlCol="0" anchor="ctr"/>
          <a:lstStyle/>
          <a:p>
            <a:pPr indent="0" marL="0">
              <a:buNone/>
            </a:pPr>
            <a:r>
              <a:rPr lang="en-US" sz="1000" b="1" dirty="0">
                <a:solidFill>
                  <a:srgbClr val="0077B6"/>
                </a:solidFill>
                <a:latin typeface="Calibri" pitchFamily="34" charset="0"/>
                <a:ea typeface="Calibri" pitchFamily="34" charset="-122"/>
                <a:cs typeface="Calibri" pitchFamily="34" charset="-120"/>
              </a:rPr>
              <a:t>AQI Method:</a:t>
            </a:r>
            <a:endParaRPr lang="en-US" sz="1000" dirty="0"/>
          </a:p>
        </p:txBody>
      </p:sp>
      <p:sp>
        <p:nvSpPr>
          <p:cNvPr id="21" name="Text 19"/>
          <p:cNvSpPr/>
          <p:nvPr/>
        </p:nvSpPr>
        <p:spPr>
          <a:xfrm>
            <a:off x="1920240" y="4389120"/>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Calculated from PM2.5 using US EPA formula</a:t>
            </a:r>
            <a:endParaRPr lang="en-US" sz="1000" dirty="0"/>
          </a:p>
        </p:txBody>
      </p:sp>
      <p:sp>
        <p:nvSpPr>
          <p:cNvPr id="22" name="Text 20"/>
          <p:cNvSpPr/>
          <p:nvPr/>
        </p:nvSpPr>
        <p:spPr>
          <a:xfrm>
            <a:off x="5943600" y="1097280"/>
            <a:ext cx="2926080" cy="320040"/>
          </a:xfrm>
          <a:prstGeom prst="rect">
            <a:avLst/>
          </a:prstGeom>
          <a:noFill/>
          <a:ln/>
        </p:spPr>
        <p:txBody>
          <a:bodyPr wrap="square" rtlCol="0" anchor="ctr"/>
          <a:lstStyle/>
          <a:p>
            <a:pPr algn="ctr" indent="0" marL="0">
              <a:buNone/>
            </a:pPr>
            <a:r>
              <a:rPr lang="en-US" sz="1300" b="1" dirty="0">
                <a:solidFill>
                  <a:srgbClr val="1A2E3C"/>
                </a:solidFill>
                <a:latin typeface="Calibri" pitchFamily="34" charset="0"/>
                <a:ea typeface="Calibri" pitchFamily="34" charset="-122"/>
                <a:cs typeface="Calibri" pitchFamily="34" charset="-120"/>
              </a:rPr>
              <a:t>AQI Distribution</a:t>
            </a:r>
            <a:endParaRPr lang="en-US" sz="1300" dirty="0"/>
          </a:p>
        </p:txBody>
      </p:sp>
      <p:graphicFrame>
        <p:nvGraphicFramePr>
          <p:cNvPr id="23" name="Chart 0" descr=""/>
          <p:cNvGraphicFramePr/>
          <p:nvPr/>
        </p:nvGraphicFramePr>
        <p:xfrm>
          <a:off x="5852160" y="1417320"/>
          <a:ext cx="3017520" cy="2926080"/>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p:nvPr/>
        </p:nvSpPr>
        <p:spPr>
          <a:xfrm>
            <a:off x="5760720" y="4480560"/>
            <a:ext cx="3108960" cy="365760"/>
          </a:xfrm>
          <a:prstGeom prst="rect">
            <a:avLst/>
          </a:prstGeom>
          <a:noFill/>
          <a:ln/>
        </p:spPr>
        <p:txBody>
          <a:bodyPr wrap="square" rtlCol="0" anchor="ctr"/>
          <a:lstStyle/>
          <a:p>
            <a:pPr algn="ctr" indent="0" marL="0">
              <a:buNone/>
            </a:pPr>
            <a:r>
              <a:rPr lang="en-US" sz="850" i="1" dirty="0">
                <a:solidFill>
                  <a:srgbClr val="4A6FA5"/>
                </a:solidFill>
                <a:latin typeface="Calibri" pitchFamily="34" charset="0"/>
                <a:ea typeface="Calibri" pitchFamily="34" charset="-122"/>
                <a:cs typeface="Calibri" pitchFamily="34" charset="-120"/>
              </a:rPr>
              <a:t>57.5% of all days in India fall in the 'Moderate' AQI category</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A3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00B4D8"/>
                </a:solidFill>
                <a:latin typeface="Calibri" pitchFamily="34" charset="0"/>
                <a:ea typeface="Calibri" pitchFamily="34" charset="-122"/>
                <a:cs typeface="Calibri" pitchFamily="34" charset="-120"/>
              </a:rPr>
              <a:t>TECHNICAL STACK</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Tools, Languages &amp; Methods Used</a:t>
            </a:r>
            <a:endParaRPr lang="en-US" sz="2600" dirty="0"/>
          </a:p>
        </p:txBody>
      </p:sp>
      <p:sp>
        <p:nvSpPr>
          <p:cNvPr id="4" name="Text 2"/>
          <p:cNvSpPr/>
          <p:nvPr/>
        </p:nvSpPr>
        <p:spPr>
          <a:xfrm>
            <a:off x="365760" y="1115568"/>
            <a:ext cx="8229600" cy="32004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Languages &amp; Libraries</a:t>
            </a:r>
            <a:endParaRPr lang="en-US" sz="1300" dirty="0"/>
          </a:p>
        </p:txBody>
      </p:sp>
      <p:sp>
        <p:nvSpPr>
          <p:cNvPr id="5" name="Shape 3"/>
          <p:cNvSpPr/>
          <p:nvPr/>
        </p:nvSpPr>
        <p:spPr>
          <a:xfrm>
            <a:off x="365760" y="1481328"/>
            <a:ext cx="2084832" cy="1234440"/>
          </a:xfrm>
          <a:prstGeom prst="roundRect">
            <a:avLst>
              <a:gd name="adj" fmla="val 7407"/>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1088136" y="1572768"/>
            <a:ext cx="640080" cy="411480"/>
          </a:xfrm>
          <a:prstGeom prst="roundRect">
            <a:avLst>
              <a:gd name="adj" fmla="val 13333"/>
            </a:avLst>
          </a:prstGeom>
          <a:solidFill>
            <a:srgbClr val="0077B6"/>
          </a:solidFill>
          <a:ln w="12700">
            <a:solidFill>
              <a:srgbClr val="0077B6"/>
            </a:solidFill>
            <a:prstDash val="solid"/>
          </a:ln>
        </p:spPr>
      </p:sp>
      <p:sp>
        <p:nvSpPr>
          <p:cNvPr id="7" name="Text 5"/>
          <p:cNvSpPr/>
          <p:nvPr/>
        </p:nvSpPr>
        <p:spPr>
          <a:xfrm>
            <a:off x="1088136" y="1572768"/>
            <a:ext cx="64008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PY</a:t>
            </a:r>
            <a:endParaRPr lang="en-US" sz="1000" dirty="0"/>
          </a:p>
        </p:txBody>
      </p:sp>
      <p:sp>
        <p:nvSpPr>
          <p:cNvPr id="8" name="Text 6"/>
          <p:cNvSpPr/>
          <p:nvPr/>
        </p:nvSpPr>
        <p:spPr>
          <a:xfrm>
            <a:off x="365760" y="2029968"/>
            <a:ext cx="20848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 3</a:t>
            </a:r>
            <a:endParaRPr lang="en-US" sz="1100" dirty="0"/>
          </a:p>
        </p:txBody>
      </p:sp>
      <p:sp>
        <p:nvSpPr>
          <p:cNvPr id="9" name="Text 7"/>
          <p:cNvSpPr/>
          <p:nvPr/>
        </p:nvSpPr>
        <p:spPr>
          <a:xfrm>
            <a:off x="457200" y="2304288"/>
            <a:ext cx="1901952" cy="347472"/>
          </a:xfrm>
          <a:prstGeom prst="rect">
            <a:avLst/>
          </a:prstGeom>
          <a:noFill/>
          <a:ln/>
        </p:spPr>
        <p:txBody>
          <a:bodyPr wrap="square" rtlCol="0" anchor="ctr"/>
          <a:lstStyle/>
          <a:p>
            <a:pPr algn="ctr" indent="0" marL="0">
              <a:lnSpc>
                <a:spcPct val="120000"/>
              </a:lnSpc>
              <a:buNone/>
            </a:pPr>
            <a:r>
              <a:rPr lang="en-US" sz="750" dirty="0">
                <a:solidFill>
                  <a:srgbClr val="A8C8E0"/>
                </a:solidFill>
                <a:latin typeface="Calibri" pitchFamily="34" charset="0"/>
                <a:ea typeface="Calibri" pitchFamily="34" charset="-122"/>
                <a:cs typeface="Calibri" pitchFamily="34" charset="-120"/>
              </a:rPr>
              <a:t>Core programming language for all data processing and analysis</a:t>
            </a:r>
            <a:endParaRPr lang="en-US" sz="750" dirty="0"/>
          </a:p>
        </p:txBody>
      </p:sp>
      <p:sp>
        <p:nvSpPr>
          <p:cNvPr id="10" name="Shape 8"/>
          <p:cNvSpPr/>
          <p:nvPr/>
        </p:nvSpPr>
        <p:spPr>
          <a:xfrm>
            <a:off x="2578608" y="1481328"/>
            <a:ext cx="2084832" cy="1234440"/>
          </a:xfrm>
          <a:prstGeom prst="roundRect">
            <a:avLst>
              <a:gd name="adj" fmla="val 7407"/>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3300984" y="1572768"/>
            <a:ext cx="640080" cy="411480"/>
          </a:xfrm>
          <a:prstGeom prst="roundRect">
            <a:avLst>
              <a:gd name="adj" fmla="val 13333"/>
            </a:avLst>
          </a:prstGeom>
          <a:solidFill>
            <a:srgbClr val="0077B6"/>
          </a:solidFill>
          <a:ln w="12700">
            <a:solidFill>
              <a:srgbClr val="0077B6"/>
            </a:solidFill>
            <a:prstDash val="solid"/>
          </a:ln>
        </p:spPr>
      </p:sp>
      <p:sp>
        <p:nvSpPr>
          <p:cNvPr id="12" name="Text 10"/>
          <p:cNvSpPr/>
          <p:nvPr/>
        </p:nvSpPr>
        <p:spPr>
          <a:xfrm>
            <a:off x="3300984" y="1572768"/>
            <a:ext cx="64008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PD</a:t>
            </a:r>
            <a:endParaRPr lang="en-US" sz="1000" dirty="0"/>
          </a:p>
        </p:txBody>
      </p:sp>
      <p:sp>
        <p:nvSpPr>
          <p:cNvPr id="13" name="Text 11"/>
          <p:cNvSpPr/>
          <p:nvPr/>
        </p:nvSpPr>
        <p:spPr>
          <a:xfrm>
            <a:off x="2578608" y="2029968"/>
            <a:ext cx="20848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Pandas</a:t>
            </a:r>
            <a:endParaRPr lang="en-US" sz="1100" dirty="0"/>
          </a:p>
        </p:txBody>
      </p:sp>
      <p:sp>
        <p:nvSpPr>
          <p:cNvPr id="14" name="Text 12"/>
          <p:cNvSpPr/>
          <p:nvPr/>
        </p:nvSpPr>
        <p:spPr>
          <a:xfrm>
            <a:off x="2670048" y="2304288"/>
            <a:ext cx="1901952" cy="347472"/>
          </a:xfrm>
          <a:prstGeom prst="rect">
            <a:avLst/>
          </a:prstGeom>
          <a:noFill/>
          <a:ln/>
        </p:spPr>
        <p:txBody>
          <a:bodyPr wrap="square" rtlCol="0" anchor="ctr"/>
          <a:lstStyle/>
          <a:p>
            <a:pPr algn="ctr" indent="0" marL="0">
              <a:lnSpc>
                <a:spcPct val="120000"/>
              </a:lnSpc>
              <a:buNone/>
            </a:pPr>
            <a:r>
              <a:rPr lang="en-US" sz="750" dirty="0">
                <a:solidFill>
                  <a:srgbClr val="A8C8E0"/>
                </a:solidFill>
                <a:latin typeface="Calibri" pitchFamily="34" charset="0"/>
                <a:ea typeface="Calibri" pitchFamily="34" charset="-122"/>
                <a:cs typeface="Calibri" pitchFamily="34" charset="-120"/>
              </a:rPr>
              <a:t>Data loading, cleaning &amp; merging 546 CSV files and time-series ops</a:t>
            </a:r>
            <a:endParaRPr lang="en-US" sz="750" dirty="0"/>
          </a:p>
        </p:txBody>
      </p:sp>
      <p:sp>
        <p:nvSpPr>
          <p:cNvPr id="15" name="Shape 13"/>
          <p:cNvSpPr/>
          <p:nvPr/>
        </p:nvSpPr>
        <p:spPr>
          <a:xfrm>
            <a:off x="4791456" y="1481328"/>
            <a:ext cx="2084832" cy="1234440"/>
          </a:xfrm>
          <a:prstGeom prst="roundRect">
            <a:avLst>
              <a:gd name="adj" fmla="val 7407"/>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16" name="Shape 14"/>
          <p:cNvSpPr/>
          <p:nvPr/>
        </p:nvSpPr>
        <p:spPr>
          <a:xfrm>
            <a:off x="5513832" y="1572768"/>
            <a:ext cx="640080" cy="411480"/>
          </a:xfrm>
          <a:prstGeom prst="roundRect">
            <a:avLst>
              <a:gd name="adj" fmla="val 13333"/>
            </a:avLst>
          </a:prstGeom>
          <a:solidFill>
            <a:srgbClr val="0077B6"/>
          </a:solidFill>
          <a:ln w="12700">
            <a:solidFill>
              <a:srgbClr val="0077B6"/>
            </a:solidFill>
            <a:prstDash val="solid"/>
          </a:ln>
        </p:spPr>
      </p:sp>
      <p:sp>
        <p:nvSpPr>
          <p:cNvPr id="17" name="Text 15"/>
          <p:cNvSpPr/>
          <p:nvPr/>
        </p:nvSpPr>
        <p:spPr>
          <a:xfrm>
            <a:off x="5513832" y="1572768"/>
            <a:ext cx="64008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MP</a:t>
            </a:r>
            <a:endParaRPr lang="en-US" sz="1000" dirty="0"/>
          </a:p>
        </p:txBody>
      </p:sp>
      <p:sp>
        <p:nvSpPr>
          <p:cNvPr id="18" name="Text 16"/>
          <p:cNvSpPr/>
          <p:nvPr/>
        </p:nvSpPr>
        <p:spPr>
          <a:xfrm>
            <a:off x="4791456" y="2029968"/>
            <a:ext cx="20848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Matplotlib</a:t>
            </a:r>
            <a:endParaRPr lang="en-US" sz="1100" dirty="0"/>
          </a:p>
        </p:txBody>
      </p:sp>
      <p:sp>
        <p:nvSpPr>
          <p:cNvPr id="19" name="Text 17"/>
          <p:cNvSpPr/>
          <p:nvPr/>
        </p:nvSpPr>
        <p:spPr>
          <a:xfrm>
            <a:off x="4882896" y="2304288"/>
            <a:ext cx="1901952" cy="347472"/>
          </a:xfrm>
          <a:prstGeom prst="rect">
            <a:avLst/>
          </a:prstGeom>
          <a:noFill/>
          <a:ln/>
        </p:spPr>
        <p:txBody>
          <a:bodyPr wrap="square" rtlCol="0" anchor="ctr"/>
          <a:lstStyle/>
          <a:p>
            <a:pPr algn="ctr" indent="0" marL="0">
              <a:lnSpc>
                <a:spcPct val="120000"/>
              </a:lnSpc>
              <a:buNone/>
            </a:pPr>
            <a:r>
              <a:rPr lang="en-US" sz="750" dirty="0">
                <a:solidFill>
                  <a:srgbClr val="A8C8E0"/>
                </a:solidFill>
                <a:latin typeface="Calibri" pitchFamily="34" charset="0"/>
                <a:ea typeface="Calibri" pitchFamily="34" charset="-122"/>
                <a:cs typeface="Calibri" pitchFamily="34" charset="-120"/>
              </a:rPr>
              <a:t>Primary charting library used to generate all 21 analysis charts</a:t>
            </a:r>
            <a:endParaRPr lang="en-US" sz="750" dirty="0"/>
          </a:p>
        </p:txBody>
      </p:sp>
      <p:sp>
        <p:nvSpPr>
          <p:cNvPr id="20" name="Shape 18"/>
          <p:cNvSpPr/>
          <p:nvPr/>
        </p:nvSpPr>
        <p:spPr>
          <a:xfrm>
            <a:off x="7004304" y="1481328"/>
            <a:ext cx="2084832" cy="1234440"/>
          </a:xfrm>
          <a:prstGeom prst="roundRect">
            <a:avLst>
              <a:gd name="adj" fmla="val 7407"/>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7726680" y="1572768"/>
            <a:ext cx="640080" cy="411480"/>
          </a:xfrm>
          <a:prstGeom prst="roundRect">
            <a:avLst>
              <a:gd name="adj" fmla="val 13333"/>
            </a:avLst>
          </a:prstGeom>
          <a:solidFill>
            <a:srgbClr val="0077B6"/>
          </a:solidFill>
          <a:ln w="12700">
            <a:solidFill>
              <a:srgbClr val="0077B6"/>
            </a:solidFill>
            <a:prstDash val="solid"/>
          </a:ln>
        </p:spPr>
      </p:sp>
      <p:sp>
        <p:nvSpPr>
          <p:cNvPr id="22" name="Text 20"/>
          <p:cNvSpPr/>
          <p:nvPr/>
        </p:nvSpPr>
        <p:spPr>
          <a:xfrm>
            <a:off x="7726680" y="1572768"/>
            <a:ext cx="64008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SB</a:t>
            </a:r>
            <a:endParaRPr lang="en-US" sz="1000" dirty="0"/>
          </a:p>
        </p:txBody>
      </p:sp>
      <p:sp>
        <p:nvSpPr>
          <p:cNvPr id="23" name="Text 21"/>
          <p:cNvSpPr/>
          <p:nvPr/>
        </p:nvSpPr>
        <p:spPr>
          <a:xfrm>
            <a:off x="7004304" y="2029968"/>
            <a:ext cx="20848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Seaborn</a:t>
            </a:r>
            <a:endParaRPr lang="en-US" sz="1100" dirty="0"/>
          </a:p>
        </p:txBody>
      </p:sp>
      <p:sp>
        <p:nvSpPr>
          <p:cNvPr id="24" name="Text 22"/>
          <p:cNvSpPr/>
          <p:nvPr/>
        </p:nvSpPr>
        <p:spPr>
          <a:xfrm>
            <a:off x="7095744" y="2304288"/>
            <a:ext cx="1901952" cy="347472"/>
          </a:xfrm>
          <a:prstGeom prst="rect">
            <a:avLst/>
          </a:prstGeom>
          <a:noFill/>
          <a:ln/>
        </p:spPr>
        <p:txBody>
          <a:bodyPr wrap="square" rtlCol="0" anchor="ctr"/>
          <a:lstStyle/>
          <a:p>
            <a:pPr algn="ctr" indent="0" marL="0">
              <a:lnSpc>
                <a:spcPct val="120000"/>
              </a:lnSpc>
              <a:buNone/>
            </a:pPr>
            <a:r>
              <a:rPr lang="en-US" sz="750" dirty="0">
                <a:solidFill>
                  <a:srgbClr val="A8C8E0"/>
                </a:solidFill>
                <a:latin typeface="Calibri" pitchFamily="34" charset="0"/>
                <a:ea typeface="Calibri" pitchFamily="34" charset="-122"/>
                <a:cs typeface="Calibri" pitchFamily="34" charset="-120"/>
              </a:rPr>
              <a:t>Statistical visualizations — heatmaps, boxplots, distributions</a:t>
            </a:r>
            <a:endParaRPr lang="en-US" sz="750" dirty="0"/>
          </a:p>
        </p:txBody>
      </p:sp>
      <p:sp>
        <p:nvSpPr>
          <p:cNvPr id="25" name="Text 23"/>
          <p:cNvSpPr/>
          <p:nvPr/>
        </p:nvSpPr>
        <p:spPr>
          <a:xfrm>
            <a:off x="365760" y="2852928"/>
            <a:ext cx="8229600" cy="320040"/>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Tools &amp; Environment</a:t>
            </a:r>
            <a:endParaRPr lang="en-US" sz="1300" dirty="0"/>
          </a:p>
        </p:txBody>
      </p:sp>
      <p:sp>
        <p:nvSpPr>
          <p:cNvPr id="26" name="Shape 24"/>
          <p:cNvSpPr/>
          <p:nvPr/>
        </p:nvSpPr>
        <p:spPr>
          <a:xfrm>
            <a:off x="365760" y="3218688"/>
            <a:ext cx="2084832" cy="1234440"/>
          </a:xfrm>
          <a:prstGeom prst="roundRect">
            <a:avLst>
              <a:gd name="adj" fmla="val 7407"/>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27" name="Shape 25"/>
          <p:cNvSpPr/>
          <p:nvPr/>
        </p:nvSpPr>
        <p:spPr>
          <a:xfrm>
            <a:off x="1088136" y="3310128"/>
            <a:ext cx="640080" cy="411480"/>
          </a:xfrm>
          <a:prstGeom prst="roundRect">
            <a:avLst>
              <a:gd name="adj" fmla="val 13333"/>
            </a:avLst>
          </a:prstGeom>
          <a:solidFill>
            <a:srgbClr val="028090"/>
          </a:solidFill>
          <a:ln w="12700">
            <a:solidFill>
              <a:srgbClr val="028090"/>
            </a:solidFill>
            <a:prstDash val="solid"/>
          </a:ln>
        </p:spPr>
      </p:sp>
      <p:sp>
        <p:nvSpPr>
          <p:cNvPr id="28" name="Text 26"/>
          <p:cNvSpPr/>
          <p:nvPr/>
        </p:nvSpPr>
        <p:spPr>
          <a:xfrm>
            <a:off x="1088136" y="3310128"/>
            <a:ext cx="64008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JN</a:t>
            </a:r>
            <a:endParaRPr lang="en-US" sz="1000" dirty="0"/>
          </a:p>
        </p:txBody>
      </p:sp>
      <p:sp>
        <p:nvSpPr>
          <p:cNvPr id="29" name="Text 27"/>
          <p:cNvSpPr/>
          <p:nvPr/>
        </p:nvSpPr>
        <p:spPr>
          <a:xfrm>
            <a:off x="365760" y="3767328"/>
            <a:ext cx="20848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Jupyter Notebook</a:t>
            </a:r>
            <a:endParaRPr lang="en-US" sz="1100" dirty="0"/>
          </a:p>
        </p:txBody>
      </p:sp>
      <p:sp>
        <p:nvSpPr>
          <p:cNvPr id="30" name="Text 28"/>
          <p:cNvSpPr/>
          <p:nvPr/>
        </p:nvSpPr>
        <p:spPr>
          <a:xfrm>
            <a:off x="457200" y="4041648"/>
            <a:ext cx="1901952" cy="347472"/>
          </a:xfrm>
          <a:prstGeom prst="rect">
            <a:avLst/>
          </a:prstGeom>
          <a:noFill/>
          <a:ln/>
        </p:spPr>
        <p:txBody>
          <a:bodyPr wrap="square" rtlCol="0" anchor="ctr"/>
          <a:lstStyle/>
          <a:p>
            <a:pPr algn="ctr" indent="0" marL="0">
              <a:lnSpc>
                <a:spcPct val="120000"/>
              </a:lnSpc>
              <a:buNone/>
            </a:pPr>
            <a:r>
              <a:rPr lang="en-US" sz="750" dirty="0">
                <a:solidFill>
                  <a:srgbClr val="A8C8E0"/>
                </a:solidFill>
                <a:latin typeface="Calibri" pitchFamily="34" charset="0"/>
                <a:ea typeface="Calibri" pitchFamily="34" charset="-122"/>
                <a:cs typeface="Calibri" pitchFamily="34" charset="-120"/>
              </a:rPr>
              <a:t>Interactive development environment for phase-by-phase code and analysis</a:t>
            </a:r>
            <a:endParaRPr lang="en-US" sz="750" dirty="0"/>
          </a:p>
        </p:txBody>
      </p:sp>
      <p:sp>
        <p:nvSpPr>
          <p:cNvPr id="31" name="Shape 29"/>
          <p:cNvSpPr/>
          <p:nvPr/>
        </p:nvSpPr>
        <p:spPr>
          <a:xfrm>
            <a:off x="2578608" y="3218688"/>
            <a:ext cx="2084832" cy="1234440"/>
          </a:xfrm>
          <a:prstGeom prst="roundRect">
            <a:avLst>
              <a:gd name="adj" fmla="val 7407"/>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32" name="Shape 30"/>
          <p:cNvSpPr/>
          <p:nvPr/>
        </p:nvSpPr>
        <p:spPr>
          <a:xfrm>
            <a:off x="3300984" y="3310128"/>
            <a:ext cx="640080" cy="411480"/>
          </a:xfrm>
          <a:prstGeom prst="roundRect">
            <a:avLst>
              <a:gd name="adj" fmla="val 13333"/>
            </a:avLst>
          </a:prstGeom>
          <a:solidFill>
            <a:srgbClr val="028090"/>
          </a:solidFill>
          <a:ln w="12700">
            <a:solidFill>
              <a:srgbClr val="028090"/>
            </a:solidFill>
            <a:prstDash val="solid"/>
          </a:ln>
        </p:spPr>
      </p:sp>
      <p:sp>
        <p:nvSpPr>
          <p:cNvPr id="33" name="Text 31"/>
          <p:cNvSpPr/>
          <p:nvPr/>
        </p:nvSpPr>
        <p:spPr>
          <a:xfrm>
            <a:off x="3300984" y="3310128"/>
            <a:ext cx="64008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NP</a:t>
            </a:r>
            <a:endParaRPr lang="en-US" sz="1000" dirty="0"/>
          </a:p>
        </p:txBody>
      </p:sp>
      <p:sp>
        <p:nvSpPr>
          <p:cNvPr id="34" name="Text 32"/>
          <p:cNvSpPr/>
          <p:nvPr/>
        </p:nvSpPr>
        <p:spPr>
          <a:xfrm>
            <a:off x="2578608" y="3767328"/>
            <a:ext cx="20848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NumPy</a:t>
            </a:r>
            <a:endParaRPr lang="en-US" sz="1100" dirty="0"/>
          </a:p>
        </p:txBody>
      </p:sp>
      <p:sp>
        <p:nvSpPr>
          <p:cNvPr id="35" name="Text 33"/>
          <p:cNvSpPr/>
          <p:nvPr/>
        </p:nvSpPr>
        <p:spPr>
          <a:xfrm>
            <a:off x="2670048" y="4041648"/>
            <a:ext cx="1901952" cy="347472"/>
          </a:xfrm>
          <a:prstGeom prst="rect">
            <a:avLst/>
          </a:prstGeom>
          <a:noFill/>
          <a:ln/>
        </p:spPr>
        <p:txBody>
          <a:bodyPr wrap="square" rtlCol="0" anchor="ctr"/>
          <a:lstStyle/>
          <a:p>
            <a:pPr algn="ctr" indent="0" marL="0">
              <a:lnSpc>
                <a:spcPct val="120000"/>
              </a:lnSpc>
              <a:buNone/>
            </a:pPr>
            <a:r>
              <a:rPr lang="en-US" sz="750" dirty="0">
                <a:solidFill>
                  <a:srgbClr val="A8C8E0"/>
                </a:solidFill>
                <a:latin typeface="Calibri" pitchFamily="34" charset="0"/>
                <a:ea typeface="Calibri" pitchFamily="34" charset="-122"/>
                <a:cs typeface="Calibri" pitchFamily="34" charset="-120"/>
              </a:rPr>
              <a:t>Numerical computations and array operations for AQI formula calculation</a:t>
            </a:r>
            <a:endParaRPr lang="en-US" sz="750" dirty="0"/>
          </a:p>
        </p:txBody>
      </p:sp>
      <p:sp>
        <p:nvSpPr>
          <p:cNvPr id="36" name="Shape 34"/>
          <p:cNvSpPr/>
          <p:nvPr/>
        </p:nvSpPr>
        <p:spPr>
          <a:xfrm>
            <a:off x="4791456" y="3218688"/>
            <a:ext cx="2084832" cy="1234440"/>
          </a:xfrm>
          <a:prstGeom prst="roundRect">
            <a:avLst>
              <a:gd name="adj" fmla="val 7407"/>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37" name="Shape 35"/>
          <p:cNvSpPr/>
          <p:nvPr/>
        </p:nvSpPr>
        <p:spPr>
          <a:xfrm>
            <a:off x="5513832" y="3310128"/>
            <a:ext cx="640080" cy="411480"/>
          </a:xfrm>
          <a:prstGeom prst="roundRect">
            <a:avLst>
              <a:gd name="adj" fmla="val 13333"/>
            </a:avLst>
          </a:prstGeom>
          <a:solidFill>
            <a:srgbClr val="028090"/>
          </a:solidFill>
          <a:ln w="12700">
            <a:solidFill>
              <a:srgbClr val="028090"/>
            </a:solidFill>
            <a:prstDash val="solid"/>
          </a:ln>
        </p:spPr>
      </p:sp>
      <p:sp>
        <p:nvSpPr>
          <p:cNvPr id="38" name="Text 36"/>
          <p:cNvSpPr/>
          <p:nvPr/>
        </p:nvSpPr>
        <p:spPr>
          <a:xfrm>
            <a:off x="5513832" y="3310128"/>
            <a:ext cx="64008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GB</a:t>
            </a:r>
            <a:endParaRPr lang="en-US" sz="1000" dirty="0"/>
          </a:p>
        </p:txBody>
      </p:sp>
      <p:sp>
        <p:nvSpPr>
          <p:cNvPr id="39" name="Text 37"/>
          <p:cNvSpPr/>
          <p:nvPr/>
        </p:nvSpPr>
        <p:spPr>
          <a:xfrm>
            <a:off x="4791456" y="3767328"/>
            <a:ext cx="20848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Glob / OS</a:t>
            </a:r>
            <a:endParaRPr lang="en-US" sz="1100" dirty="0"/>
          </a:p>
        </p:txBody>
      </p:sp>
      <p:sp>
        <p:nvSpPr>
          <p:cNvPr id="40" name="Text 38"/>
          <p:cNvSpPr/>
          <p:nvPr/>
        </p:nvSpPr>
        <p:spPr>
          <a:xfrm>
            <a:off x="4882896" y="4041648"/>
            <a:ext cx="1901952" cy="347472"/>
          </a:xfrm>
          <a:prstGeom prst="rect">
            <a:avLst/>
          </a:prstGeom>
          <a:noFill/>
          <a:ln/>
        </p:spPr>
        <p:txBody>
          <a:bodyPr wrap="square" rtlCol="0" anchor="ctr"/>
          <a:lstStyle/>
          <a:p>
            <a:pPr algn="ctr" indent="0" marL="0">
              <a:lnSpc>
                <a:spcPct val="120000"/>
              </a:lnSpc>
              <a:buNone/>
            </a:pPr>
            <a:r>
              <a:rPr lang="en-US" sz="750" dirty="0">
                <a:solidFill>
                  <a:srgbClr val="A8C8E0"/>
                </a:solidFill>
                <a:latin typeface="Calibri" pitchFamily="34" charset="0"/>
                <a:ea typeface="Calibri" pitchFamily="34" charset="-122"/>
                <a:cs typeface="Calibri" pitchFamily="34" charset="-120"/>
              </a:rPr>
              <a:t>Recursively loaded 546 CSV files from 20 state folders automatically</a:t>
            </a:r>
            <a:endParaRPr lang="en-US" sz="750" dirty="0"/>
          </a:p>
        </p:txBody>
      </p:sp>
      <p:sp>
        <p:nvSpPr>
          <p:cNvPr id="41" name="Shape 39"/>
          <p:cNvSpPr/>
          <p:nvPr/>
        </p:nvSpPr>
        <p:spPr>
          <a:xfrm>
            <a:off x="7004304" y="3218688"/>
            <a:ext cx="2084832" cy="1234440"/>
          </a:xfrm>
          <a:prstGeom prst="roundRect">
            <a:avLst>
              <a:gd name="adj" fmla="val 7407"/>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42" name="Shape 40"/>
          <p:cNvSpPr/>
          <p:nvPr/>
        </p:nvSpPr>
        <p:spPr>
          <a:xfrm>
            <a:off x="7726680" y="3310128"/>
            <a:ext cx="640080" cy="411480"/>
          </a:xfrm>
          <a:prstGeom prst="roundRect">
            <a:avLst>
              <a:gd name="adj" fmla="val 13333"/>
            </a:avLst>
          </a:prstGeom>
          <a:solidFill>
            <a:srgbClr val="028090"/>
          </a:solidFill>
          <a:ln w="12700">
            <a:solidFill>
              <a:srgbClr val="028090"/>
            </a:solidFill>
            <a:prstDash val="solid"/>
          </a:ln>
        </p:spPr>
      </p:sp>
      <p:sp>
        <p:nvSpPr>
          <p:cNvPr id="43" name="Text 41"/>
          <p:cNvSpPr/>
          <p:nvPr/>
        </p:nvSpPr>
        <p:spPr>
          <a:xfrm>
            <a:off x="7726680" y="3310128"/>
            <a:ext cx="640080" cy="41148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KG</a:t>
            </a:r>
            <a:endParaRPr lang="en-US" sz="1000" dirty="0"/>
          </a:p>
        </p:txBody>
      </p:sp>
      <p:sp>
        <p:nvSpPr>
          <p:cNvPr id="44" name="Text 42"/>
          <p:cNvSpPr/>
          <p:nvPr/>
        </p:nvSpPr>
        <p:spPr>
          <a:xfrm>
            <a:off x="7004304" y="3767328"/>
            <a:ext cx="20848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Kaggle Dataset</a:t>
            </a:r>
            <a:endParaRPr lang="en-US" sz="1100" dirty="0"/>
          </a:p>
        </p:txBody>
      </p:sp>
      <p:sp>
        <p:nvSpPr>
          <p:cNvPr id="45" name="Text 43"/>
          <p:cNvSpPr/>
          <p:nvPr/>
        </p:nvSpPr>
        <p:spPr>
          <a:xfrm>
            <a:off x="7095744" y="4041648"/>
            <a:ext cx="1901952" cy="347472"/>
          </a:xfrm>
          <a:prstGeom prst="rect">
            <a:avLst/>
          </a:prstGeom>
          <a:noFill/>
          <a:ln/>
        </p:spPr>
        <p:txBody>
          <a:bodyPr wrap="square" rtlCol="0" anchor="ctr"/>
          <a:lstStyle/>
          <a:p>
            <a:pPr algn="ctr" indent="0" marL="0">
              <a:lnSpc>
                <a:spcPct val="120000"/>
              </a:lnSpc>
              <a:buNone/>
            </a:pPr>
            <a:r>
              <a:rPr lang="en-US" sz="750" dirty="0">
                <a:solidFill>
                  <a:srgbClr val="A8C8E0"/>
                </a:solidFill>
                <a:latin typeface="Calibri" pitchFamily="34" charset="0"/>
                <a:ea typeface="Calibri" pitchFamily="34" charset="-122"/>
                <a:cs typeface="Calibri" pitchFamily="34" charset="-120"/>
              </a:rPr>
              <a:t>CPCB validated Indian AQI station data covering 2009–2024</a:t>
            </a:r>
            <a:endParaRPr lang="en-US" sz="750" dirty="0"/>
          </a:p>
        </p:txBody>
      </p:sp>
      <p:sp>
        <p:nvSpPr>
          <p:cNvPr id="46" name="Shape 44"/>
          <p:cNvSpPr/>
          <p:nvPr/>
        </p:nvSpPr>
        <p:spPr>
          <a:xfrm>
            <a:off x="365760" y="4617720"/>
            <a:ext cx="8412480" cy="274320"/>
          </a:xfrm>
          <a:prstGeom prst="roundRect">
            <a:avLst>
              <a:gd name="adj" fmla="val 16667"/>
            </a:avLst>
          </a:prstGeom>
          <a:solidFill>
            <a:srgbClr val="163A52"/>
          </a:solidFill>
          <a:ln w="12700">
            <a:solidFill>
              <a:srgbClr val="1E5070"/>
            </a:solidFill>
            <a:prstDash val="solid"/>
          </a:ln>
        </p:spPr>
      </p:sp>
      <p:sp>
        <p:nvSpPr>
          <p:cNvPr id="47" name="Text 45"/>
          <p:cNvSpPr/>
          <p:nvPr/>
        </p:nvSpPr>
        <p:spPr>
          <a:xfrm>
            <a:off x="457200" y="4617720"/>
            <a:ext cx="8229600" cy="274320"/>
          </a:xfrm>
          <a:prstGeom prst="rect">
            <a:avLst/>
          </a:prstGeom>
          <a:noFill/>
          <a:ln/>
        </p:spPr>
        <p:txBody>
          <a:bodyPr wrap="square" rtlCol="0" anchor="ctr"/>
          <a:lstStyle/>
          <a:p>
            <a:pPr indent="0" marL="0">
              <a:buNone/>
            </a:pPr>
            <a:r>
              <a:rPr lang="en-US" sz="850" dirty="0">
                <a:solidFill>
                  <a:srgbClr val="A8C8E0"/>
                </a:solidFill>
                <a:latin typeface="Calibri" pitchFamily="34" charset="0"/>
                <a:ea typeface="Calibri" pitchFamily="34" charset="-122"/>
                <a:cs typeface="Calibri" pitchFamily="34" charset="-120"/>
              </a:rPr>
              <a:t>Analysis Methods:   EDA  |  Time-Series Analysis  |  Correlation Analysis  |  AQI Calculation (US EPA Formula)  |  Seasonal Decomposition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6F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4A6FA5"/>
                </a:solidFill>
                <a:latin typeface="Calibri" pitchFamily="34" charset="0"/>
                <a:ea typeface="Calibri" pitchFamily="34" charset="-122"/>
                <a:cs typeface="Calibri" pitchFamily="34" charset="-120"/>
              </a:rPr>
              <a:t>PHASE 3</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A2E3C"/>
                </a:solidFill>
                <a:latin typeface="Calibri" pitchFamily="34" charset="0"/>
                <a:ea typeface="Calibri" pitchFamily="34" charset="-122"/>
                <a:cs typeface="Calibri" pitchFamily="34" charset="-120"/>
              </a:rPr>
              <a:t>National AQI Trend (2009–2024)</a:t>
            </a:r>
            <a:endParaRPr lang="en-US" sz="2600" dirty="0"/>
          </a:p>
        </p:txBody>
      </p:sp>
      <p:graphicFrame>
        <p:nvGraphicFramePr>
          <p:cNvPr id="4" name="Chart 0" descr=""/>
          <p:cNvGraphicFramePr/>
          <p:nvPr/>
        </p:nvGraphicFramePr>
        <p:xfrm>
          <a:off x="365760" y="1097280"/>
          <a:ext cx="566928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17920" y="1097280"/>
            <a:ext cx="2651760" cy="1005840"/>
          </a:xfrm>
          <a:prstGeom prst="roundRect">
            <a:avLst>
              <a:gd name="adj" fmla="val 9091"/>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6" name="Text 3"/>
          <p:cNvSpPr/>
          <p:nvPr/>
        </p:nvSpPr>
        <p:spPr>
          <a:xfrm>
            <a:off x="6355080" y="1188720"/>
            <a:ext cx="2377440" cy="292608"/>
          </a:xfrm>
          <a:prstGeom prst="rect">
            <a:avLst/>
          </a:prstGeom>
          <a:noFill/>
          <a:ln/>
        </p:spPr>
        <p:txBody>
          <a:bodyPr wrap="square" rtlCol="0" anchor="ctr"/>
          <a:lstStyle/>
          <a:p>
            <a:pPr indent="0" marL="0">
              <a:buNone/>
            </a:pPr>
            <a:r>
              <a:rPr lang="en-US" sz="1050" b="1" dirty="0">
                <a:solidFill>
                  <a:srgbClr val="1A2E3C"/>
                </a:solidFill>
                <a:latin typeface="Calibri" pitchFamily="34" charset="0"/>
                <a:ea typeface="Calibri" pitchFamily="34" charset="-122"/>
                <a:cs typeface="Calibri" pitchFamily="34" charset="-120"/>
              </a:rPr>
              <a:t>📈  Peak: 2012–2016</a:t>
            </a:r>
            <a:endParaRPr lang="en-US" sz="1050" dirty="0"/>
          </a:p>
        </p:txBody>
      </p:sp>
      <p:sp>
        <p:nvSpPr>
          <p:cNvPr id="7" name="Text 4"/>
          <p:cNvSpPr/>
          <p:nvPr/>
        </p:nvSpPr>
        <p:spPr>
          <a:xfrm>
            <a:off x="6355080" y="1481328"/>
            <a:ext cx="2377440" cy="502920"/>
          </a:xfrm>
          <a:prstGeom prst="rect">
            <a:avLst/>
          </a:prstGeom>
          <a:noFill/>
          <a:ln/>
        </p:spPr>
        <p:txBody>
          <a:bodyPr wrap="square" rtlCol="0" anchor="ctr"/>
          <a:lstStyle/>
          <a:p>
            <a:pPr indent="0" marL="0">
              <a:lnSpc>
                <a:spcPct val="120000"/>
              </a:lnSpc>
              <a:buNone/>
            </a:pPr>
            <a:r>
              <a:rPr lang="en-US" sz="900" dirty="0">
                <a:solidFill>
                  <a:srgbClr val="4A6FA5"/>
                </a:solidFill>
                <a:latin typeface="Calibri" pitchFamily="34" charset="0"/>
                <a:ea typeface="Calibri" pitchFamily="34" charset="-122"/>
                <a:cs typeface="Calibri" pitchFamily="34" charset="-120"/>
              </a:rPr>
              <a:t>AQI peaked at ~145 due to rapid industrialization and urban expansion.</a:t>
            </a:r>
            <a:endParaRPr lang="en-US" sz="900" dirty="0"/>
          </a:p>
        </p:txBody>
      </p:sp>
      <p:sp>
        <p:nvSpPr>
          <p:cNvPr id="8" name="Shape 5"/>
          <p:cNvSpPr/>
          <p:nvPr/>
        </p:nvSpPr>
        <p:spPr>
          <a:xfrm>
            <a:off x="6217920" y="2240280"/>
            <a:ext cx="2651760" cy="1005840"/>
          </a:xfrm>
          <a:prstGeom prst="roundRect">
            <a:avLst>
              <a:gd name="adj" fmla="val 9091"/>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9" name="Text 6"/>
          <p:cNvSpPr/>
          <p:nvPr/>
        </p:nvSpPr>
        <p:spPr>
          <a:xfrm>
            <a:off x="6355080" y="2331720"/>
            <a:ext cx="2377440" cy="292608"/>
          </a:xfrm>
          <a:prstGeom prst="rect">
            <a:avLst/>
          </a:prstGeom>
          <a:noFill/>
          <a:ln/>
        </p:spPr>
        <p:txBody>
          <a:bodyPr wrap="square" rtlCol="0" anchor="ctr"/>
          <a:lstStyle/>
          <a:p>
            <a:pPr indent="0" marL="0">
              <a:buNone/>
            </a:pPr>
            <a:r>
              <a:rPr lang="en-US" sz="1050" b="1" dirty="0">
                <a:solidFill>
                  <a:srgbClr val="1A2E3C"/>
                </a:solidFill>
                <a:latin typeface="Calibri" pitchFamily="34" charset="0"/>
                <a:ea typeface="Calibri" pitchFamily="34" charset="-122"/>
                <a:cs typeface="Calibri" pitchFamily="34" charset="-120"/>
              </a:rPr>
              <a:t>😷  COVID Dip 2020</a:t>
            </a:r>
            <a:endParaRPr lang="en-US" sz="1050" dirty="0"/>
          </a:p>
        </p:txBody>
      </p:sp>
      <p:sp>
        <p:nvSpPr>
          <p:cNvPr id="10" name="Text 7"/>
          <p:cNvSpPr/>
          <p:nvPr/>
        </p:nvSpPr>
        <p:spPr>
          <a:xfrm>
            <a:off x="6355080" y="2624328"/>
            <a:ext cx="2377440" cy="502920"/>
          </a:xfrm>
          <a:prstGeom prst="rect">
            <a:avLst/>
          </a:prstGeom>
          <a:noFill/>
          <a:ln/>
        </p:spPr>
        <p:txBody>
          <a:bodyPr wrap="square" rtlCol="0" anchor="ctr"/>
          <a:lstStyle/>
          <a:p>
            <a:pPr indent="0" marL="0">
              <a:lnSpc>
                <a:spcPct val="120000"/>
              </a:lnSpc>
              <a:buNone/>
            </a:pPr>
            <a:r>
              <a:rPr lang="en-US" sz="900" dirty="0">
                <a:solidFill>
                  <a:srgbClr val="4A6FA5"/>
                </a:solidFill>
                <a:latin typeface="Calibri" pitchFamily="34" charset="0"/>
                <a:ea typeface="Calibri" pitchFamily="34" charset="-122"/>
                <a:cs typeface="Calibri" pitchFamily="34" charset="-120"/>
              </a:rPr>
              <a:t>Lockdown caused AQI to drop to 122 — factories &amp; vehicles stopped.</a:t>
            </a:r>
            <a:endParaRPr lang="en-US" sz="900" dirty="0"/>
          </a:p>
        </p:txBody>
      </p:sp>
      <p:sp>
        <p:nvSpPr>
          <p:cNvPr id="11" name="Shape 8"/>
          <p:cNvSpPr/>
          <p:nvPr/>
        </p:nvSpPr>
        <p:spPr>
          <a:xfrm>
            <a:off x="6217920" y="3383280"/>
            <a:ext cx="2651760" cy="1005840"/>
          </a:xfrm>
          <a:prstGeom prst="roundRect">
            <a:avLst>
              <a:gd name="adj" fmla="val 9091"/>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2" name="Text 9"/>
          <p:cNvSpPr/>
          <p:nvPr/>
        </p:nvSpPr>
        <p:spPr>
          <a:xfrm>
            <a:off x="6355080" y="3474720"/>
            <a:ext cx="2377440" cy="292608"/>
          </a:xfrm>
          <a:prstGeom prst="rect">
            <a:avLst/>
          </a:prstGeom>
          <a:noFill/>
          <a:ln/>
        </p:spPr>
        <p:txBody>
          <a:bodyPr wrap="square" rtlCol="0" anchor="ctr"/>
          <a:lstStyle/>
          <a:p>
            <a:pPr indent="0" marL="0">
              <a:buNone/>
            </a:pPr>
            <a:r>
              <a:rPr lang="en-US" sz="1050" b="1" dirty="0">
                <a:solidFill>
                  <a:srgbClr val="1A2E3C"/>
                </a:solidFill>
                <a:latin typeface="Calibri" pitchFamily="34" charset="0"/>
                <a:ea typeface="Calibri" pitchFamily="34" charset="-122"/>
                <a:cs typeface="Calibri" pitchFamily="34" charset="-120"/>
              </a:rPr>
              <a:t>✅  Improving Since</a:t>
            </a:r>
            <a:endParaRPr lang="en-US" sz="1050" dirty="0"/>
          </a:p>
        </p:txBody>
      </p:sp>
      <p:sp>
        <p:nvSpPr>
          <p:cNvPr id="13" name="Text 10"/>
          <p:cNvSpPr/>
          <p:nvPr/>
        </p:nvSpPr>
        <p:spPr>
          <a:xfrm>
            <a:off x="6355080" y="3767328"/>
            <a:ext cx="2377440" cy="502920"/>
          </a:xfrm>
          <a:prstGeom prst="rect">
            <a:avLst/>
          </a:prstGeom>
          <a:noFill/>
          <a:ln/>
        </p:spPr>
        <p:txBody>
          <a:bodyPr wrap="square" rtlCol="0" anchor="ctr"/>
          <a:lstStyle/>
          <a:p>
            <a:pPr indent="0" marL="0">
              <a:lnSpc>
                <a:spcPct val="120000"/>
              </a:lnSpc>
              <a:buNone/>
            </a:pPr>
            <a:r>
              <a:rPr lang="en-US" sz="900" dirty="0">
                <a:solidFill>
                  <a:srgbClr val="4A6FA5"/>
                </a:solidFill>
                <a:latin typeface="Calibri" pitchFamily="34" charset="0"/>
                <a:ea typeface="Calibri" pitchFamily="34" charset="-122"/>
                <a:cs typeface="Calibri" pitchFamily="34" charset="-120"/>
              </a:rPr>
              <a:t>2024 shows lowest AQI in 15 years at ~113 — policies are working.</a:t>
            </a:r>
            <a:endParaRPr lang="en-US" sz="900" dirty="0"/>
          </a:p>
        </p:txBody>
      </p:sp>
      <p:sp>
        <p:nvSpPr>
          <p:cNvPr id="14" name="Text 11"/>
          <p:cNvSpPr/>
          <p:nvPr/>
        </p:nvSpPr>
        <p:spPr>
          <a:xfrm>
            <a:off x="365760" y="4526280"/>
            <a:ext cx="8412480" cy="320040"/>
          </a:xfrm>
          <a:prstGeom prst="rect">
            <a:avLst/>
          </a:prstGeom>
          <a:noFill/>
          <a:ln/>
        </p:spPr>
        <p:txBody>
          <a:bodyPr wrap="square" rtlCol="0" anchor="ctr"/>
          <a:lstStyle/>
          <a:p>
            <a:pPr algn="ctr" indent="0" marL="0">
              <a:buNone/>
            </a:pPr>
            <a:r>
              <a:rPr lang="en-US" sz="900" i="1" dirty="0">
                <a:solidFill>
                  <a:srgbClr val="4A6FA5"/>
                </a:solidFill>
                <a:latin typeface="Calibri" pitchFamily="34" charset="0"/>
                <a:ea typeface="Calibri" pitchFamily="34" charset="-122"/>
                <a:cs typeface="Calibri" pitchFamily="34" charset="-120"/>
              </a:rPr>
              <a:t>COVID lockdown 2020 proved that human activity is the primary driver of air pollution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4A6FA5"/>
                </a:solidFill>
                <a:latin typeface="Calibri" pitchFamily="34" charset="0"/>
                <a:ea typeface="Calibri" pitchFamily="34" charset="-122"/>
                <a:cs typeface="Calibri" pitchFamily="34" charset="-120"/>
              </a:rPr>
              <a:t>PHASE 4</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A2E3C"/>
                </a:solidFill>
                <a:latin typeface="Calibri" pitchFamily="34" charset="0"/>
                <a:ea typeface="Calibri" pitchFamily="34" charset="-122"/>
                <a:cs typeface="Calibri" pitchFamily="34" charset="-120"/>
              </a:rPr>
              <a:t>State &amp; City Level Analysis</a:t>
            </a:r>
            <a:endParaRPr lang="en-US" sz="2600" dirty="0"/>
          </a:p>
        </p:txBody>
      </p:sp>
      <p:sp>
        <p:nvSpPr>
          <p:cNvPr id="4" name="Text 2"/>
          <p:cNvSpPr/>
          <p:nvPr/>
        </p:nvSpPr>
        <p:spPr>
          <a:xfrm>
            <a:off x="365760" y="1097280"/>
            <a:ext cx="4297680" cy="274320"/>
          </a:xfrm>
          <a:prstGeom prst="rect">
            <a:avLst/>
          </a:prstGeom>
          <a:noFill/>
          <a:ln/>
        </p:spPr>
        <p:txBody>
          <a:bodyPr wrap="square" rtlCol="0" anchor="ctr"/>
          <a:lstStyle/>
          <a:p>
            <a:pPr indent="0" marL="0">
              <a:buNone/>
            </a:pPr>
            <a:r>
              <a:rPr lang="en-US" sz="1200" b="1" dirty="0">
                <a:solidFill>
                  <a:srgbClr val="1A2E3C"/>
                </a:solidFill>
                <a:latin typeface="Calibri" pitchFamily="34" charset="0"/>
                <a:ea typeface="Calibri" pitchFamily="34" charset="-122"/>
                <a:cs typeface="Calibri" pitchFamily="34" charset="-120"/>
              </a:rPr>
              <a:t>Top 10 Most Polluted States</a:t>
            </a:r>
            <a:endParaRPr lang="en-US" sz="1200" dirty="0"/>
          </a:p>
        </p:txBody>
      </p:sp>
      <p:graphicFrame>
        <p:nvGraphicFramePr>
          <p:cNvPr id="5" name="Chart 0" descr=""/>
          <p:cNvGraphicFramePr/>
          <p:nvPr/>
        </p:nvGraphicFramePr>
        <p:xfrm>
          <a:off x="365760" y="1371600"/>
          <a:ext cx="4206240" cy="3383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846320" y="1097280"/>
            <a:ext cx="4023360" cy="274320"/>
          </a:xfrm>
          <a:prstGeom prst="rect">
            <a:avLst/>
          </a:prstGeom>
          <a:noFill/>
          <a:ln/>
        </p:spPr>
        <p:txBody>
          <a:bodyPr wrap="square" rtlCol="0" anchor="ctr"/>
          <a:lstStyle/>
          <a:p>
            <a:pPr indent="0" marL="0">
              <a:buNone/>
            </a:pPr>
            <a:r>
              <a:rPr lang="en-US" sz="1200" b="1" dirty="0">
                <a:solidFill>
                  <a:srgbClr val="1A2E3C"/>
                </a:solidFill>
                <a:latin typeface="Calibri" pitchFamily="34" charset="0"/>
                <a:ea typeface="Calibri" pitchFamily="34" charset="-122"/>
                <a:cs typeface="Calibri" pitchFamily="34" charset="-120"/>
              </a:rPr>
              <a:t>Top 5 Cleanest Cities</a:t>
            </a:r>
            <a:endParaRPr lang="en-US" sz="1200" dirty="0"/>
          </a:p>
        </p:txBody>
      </p:sp>
      <p:graphicFrame>
        <p:nvGraphicFramePr>
          <p:cNvPr id="7" name="Chart 1" descr=""/>
          <p:cNvGraphicFramePr/>
          <p:nvPr/>
        </p:nvGraphicFramePr>
        <p:xfrm>
          <a:off x="4754880" y="1371600"/>
          <a:ext cx="4114800" cy="182880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4754880" y="3337560"/>
            <a:ext cx="4114800" cy="1463040"/>
          </a:xfrm>
          <a:prstGeom prst="roundRect">
            <a:avLst>
              <a:gd name="adj" fmla="val 6250"/>
            </a:avLst>
          </a:prstGeom>
          <a:solidFill>
            <a:srgbClr val="E8F8F5"/>
          </a:solidFill>
          <a:ln w="12700">
            <a:solidFill>
              <a:srgbClr val="A8E6D8"/>
            </a:solidFill>
            <a:prstDash val="solid"/>
          </a:ln>
        </p:spPr>
      </p:sp>
      <p:sp>
        <p:nvSpPr>
          <p:cNvPr id="9" name="Text 5"/>
          <p:cNvSpPr/>
          <p:nvPr/>
        </p:nvSpPr>
        <p:spPr>
          <a:xfrm>
            <a:off x="4937760" y="3456432"/>
            <a:ext cx="3749040" cy="274320"/>
          </a:xfrm>
          <a:prstGeom prst="rect">
            <a:avLst/>
          </a:prstGeom>
          <a:noFill/>
          <a:ln/>
        </p:spPr>
        <p:txBody>
          <a:bodyPr wrap="square" rtlCol="0" anchor="ctr"/>
          <a:lstStyle/>
          <a:p>
            <a:pPr indent="0" marL="0">
              <a:buNone/>
            </a:pPr>
            <a:r>
              <a:rPr lang="en-US" sz="1100" b="1" dirty="0">
                <a:solidFill>
                  <a:srgbClr val="1A2E3C"/>
                </a:solidFill>
                <a:latin typeface="Calibri" pitchFamily="34" charset="0"/>
                <a:ea typeface="Calibri" pitchFamily="34" charset="-122"/>
                <a:cs typeface="Calibri" pitchFamily="34" charset="-120"/>
              </a:rPr>
              <a:t>🔑 Key Finding</a:t>
            </a:r>
            <a:endParaRPr lang="en-US" sz="1100" dirty="0"/>
          </a:p>
        </p:txBody>
      </p:sp>
      <p:sp>
        <p:nvSpPr>
          <p:cNvPr id="10" name="Text 6"/>
          <p:cNvSpPr/>
          <p:nvPr/>
        </p:nvSpPr>
        <p:spPr>
          <a:xfrm>
            <a:off x="4937760" y="3749040"/>
            <a:ext cx="3749040" cy="868680"/>
          </a:xfrm>
          <a:prstGeom prst="rect">
            <a:avLst/>
          </a:prstGeom>
          <a:noFill/>
          <a:ln/>
        </p:spPr>
        <p:txBody>
          <a:bodyPr wrap="square" rtlCol="0" anchor="ctr"/>
          <a:lstStyle/>
          <a:p>
            <a:pPr indent="0" marL="0">
              <a:lnSpc>
                <a:spcPct val="130000"/>
              </a:lnSpc>
              <a:buNone/>
            </a:pPr>
            <a:r>
              <a:rPr lang="en-US" sz="950" dirty="0">
                <a:solidFill>
                  <a:srgbClr val="1A2E3C"/>
                </a:solidFill>
                <a:latin typeface="Calibri" pitchFamily="34" charset="0"/>
                <a:ea typeface="Calibri" pitchFamily="34" charset="-122"/>
                <a:cs typeface="Calibri" pitchFamily="34" charset="-120"/>
              </a:rPr>
              <a:t>Delhi NCT (AQI 161) is 4× worse than Aizawl (AQI 47) — India's cleanest city.</a:t>
            </a:r>
            <a:endParaRPr lang="en-US" sz="950" dirty="0"/>
          </a:p>
          <a:p>
            <a:pPr indent="0" marL="0">
              <a:lnSpc>
                <a:spcPct val="130000"/>
              </a:lnSpc>
              <a:buNone/>
            </a:pPr>
            <a:r>
              <a:rPr lang="en-US" sz="950" dirty="0">
                <a:solidFill>
                  <a:srgbClr val="1A2E3C"/>
                </a:solidFill>
                <a:latin typeface="Calibri" pitchFamily="34" charset="0"/>
                <a:ea typeface="Calibri" pitchFamily="34" charset="-122"/>
                <a:cs typeface="Calibri" pitchFamily="34" charset="-120"/>
              </a:rPr>
              <a:t>North India vs South India shows a 60+ point AQI gap driven by geography, industry and agriculture.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4A6FA5"/>
                </a:solidFill>
                <a:latin typeface="Calibri" pitchFamily="34" charset="0"/>
                <a:ea typeface="Calibri" pitchFamily="34" charset="-122"/>
                <a:cs typeface="Calibri" pitchFamily="34" charset="-120"/>
              </a:rPr>
              <a:t>PHASE 6</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A2E3C"/>
                </a:solidFill>
                <a:latin typeface="Calibri" pitchFamily="34" charset="0"/>
                <a:ea typeface="Calibri" pitchFamily="34" charset="-122"/>
                <a:cs typeface="Calibri" pitchFamily="34" charset="-120"/>
              </a:rPr>
              <a:t>Seasonal &amp; Monthly AQI Patterns</a:t>
            </a:r>
            <a:endParaRPr lang="en-US" sz="2600" dirty="0"/>
          </a:p>
        </p:txBody>
      </p:sp>
      <p:sp>
        <p:nvSpPr>
          <p:cNvPr id="4" name="Text 2"/>
          <p:cNvSpPr/>
          <p:nvPr/>
        </p:nvSpPr>
        <p:spPr>
          <a:xfrm>
            <a:off x="365760" y="1097280"/>
            <a:ext cx="5029200" cy="274320"/>
          </a:xfrm>
          <a:prstGeom prst="rect">
            <a:avLst/>
          </a:prstGeom>
          <a:noFill/>
          <a:ln/>
        </p:spPr>
        <p:txBody>
          <a:bodyPr wrap="square" rtlCol="0" anchor="ctr"/>
          <a:lstStyle/>
          <a:p>
            <a:pPr indent="0" marL="0">
              <a:buNone/>
            </a:pPr>
            <a:r>
              <a:rPr lang="en-US" sz="1200" b="1" dirty="0">
                <a:solidFill>
                  <a:srgbClr val="1A2E3C"/>
                </a:solidFill>
                <a:latin typeface="Calibri" pitchFamily="34" charset="0"/>
                <a:ea typeface="Calibri" pitchFamily="34" charset="-122"/>
                <a:cs typeface="Calibri" pitchFamily="34" charset="-120"/>
              </a:rPr>
              <a:t>Month-wise Average AQI — India</a:t>
            </a:r>
            <a:endParaRPr lang="en-US" sz="1200" dirty="0"/>
          </a:p>
        </p:txBody>
      </p:sp>
      <p:graphicFrame>
        <p:nvGraphicFramePr>
          <p:cNvPr id="5" name="Chart 0" descr=""/>
          <p:cNvGraphicFramePr/>
          <p:nvPr/>
        </p:nvGraphicFramePr>
        <p:xfrm>
          <a:off x="365760" y="137160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188720"/>
            <a:ext cx="3017520" cy="822960"/>
          </a:xfrm>
          <a:prstGeom prst="roundRect">
            <a:avLst>
              <a:gd name="adj" fmla="val 8889"/>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7" name="Text 4"/>
          <p:cNvSpPr/>
          <p:nvPr/>
        </p:nvSpPr>
        <p:spPr>
          <a:xfrm>
            <a:off x="5897880" y="1280160"/>
            <a:ext cx="1371600" cy="292608"/>
          </a:xfrm>
          <a:prstGeom prst="rect">
            <a:avLst/>
          </a:prstGeom>
          <a:noFill/>
          <a:ln/>
        </p:spPr>
        <p:txBody>
          <a:bodyPr wrap="square" rtlCol="0" anchor="ctr"/>
          <a:lstStyle/>
          <a:p>
            <a:pPr indent="0" marL="0">
              <a:buNone/>
            </a:pPr>
            <a:r>
              <a:rPr lang="en-US" sz="1100" b="1" dirty="0">
                <a:solidFill>
                  <a:srgbClr val="1A2E3C"/>
                </a:solidFill>
                <a:latin typeface="Calibri" pitchFamily="34" charset="0"/>
                <a:ea typeface="Calibri" pitchFamily="34" charset="-122"/>
                <a:cs typeface="Calibri" pitchFamily="34" charset="-120"/>
              </a:rPr>
              <a:t>❄️ Winter</a:t>
            </a:r>
            <a:endParaRPr lang="en-US" sz="1100" dirty="0"/>
          </a:p>
        </p:txBody>
      </p:sp>
      <p:sp>
        <p:nvSpPr>
          <p:cNvPr id="8" name="Text 5"/>
          <p:cNvSpPr/>
          <p:nvPr/>
        </p:nvSpPr>
        <p:spPr>
          <a:xfrm>
            <a:off x="5897880" y="1600200"/>
            <a:ext cx="1371600" cy="256032"/>
          </a:xfrm>
          <a:prstGeom prst="rect">
            <a:avLst/>
          </a:prstGeom>
          <a:noFill/>
          <a:ln/>
        </p:spPr>
        <p:txBody>
          <a:bodyPr wrap="square" rtlCol="0" anchor="ctr"/>
          <a:lstStyle/>
          <a:p>
            <a:pPr indent="0" marL="0">
              <a:buNone/>
            </a:pPr>
            <a:r>
              <a:rPr lang="en-US" sz="1000" dirty="0">
                <a:solidFill>
                  <a:srgbClr val="0077B6"/>
                </a:solidFill>
                <a:latin typeface="Calibri" pitchFamily="34" charset="0"/>
                <a:ea typeface="Calibri" pitchFamily="34" charset="-122"/>
                <a:cs typeface="Calibri" pitchFamily="34" charset="-120"/>
              </a:rPr>
              <a:t>AQI 155</a:t>
            </a:r>
            <a:endParaRPr lang="en-US" sz="1000" dirty="0"/>
          </a:p>
        </p:txBody>
      </p:sp>
      <p:sp>
        <p:nvSpPr>
          <p:cNvPr id="9" name="Text 6"/>
          <p:cNvSpPr/>
          <p:nvPr/>
        </p:nvSpPr>
        <p:spPr>
          <a:xfrm>
            <a:off x="7315200" y="1417320"/>
            <a:ext cx="1280160" cy="365760"/>
          </a:xfrm>
          <a:prstGeom prst="rect">
            <a:avLst/>
          </a:prstGeom>
          <a:noFill/>
          <a:ln/>
        </p:spPr>
        <p:txBody>
          <a:bodyPr wrap="square" rtlCol="0" anchor="ctr"/>
          <a:lstStyle/>
          <a:p>
            <a:pPr algn="r" indent="0" marL="0">
              <a:buNone/>
            </a:pPr>
            <a:r>
              <a:rPr lang="en-US" sz="950" i="1" dirty="0">
                <a:solidFill>
                  <a:srgbClr val="4A6FA5"/>
                </a:solidFill>
                <a:latin typeface="Calibri" pitchFamily="34" charset="0"/>
                <a:ea typeface="Calibri" pitchFamily="34" charset="-122"/>
                <a:cs typeface="Calibri" pitchFamily="34" charset="-120"/>
              </a:rPr>
              <a:t>Worst season</a:t>
            </a:r>
            <a:endParaRPr lang="en-US" sz="950" dirty="0"/>
          </a:p>
        </p:txBody>
      </p:sp>
      <p:sp>
        <p:nvSpPr>
          <p:cNvPr id="10" name="Shape 7"/>
          <p:cNvSpPr/>
          <p:nvPr/>
        </p:nvSpPr>
        <p:spPr>
          <a:xfrm>
            <a:off x="5760720" y="2194560"/>
            <a:ext cx="3017520" cy="822960"/>
          </a:xfrm>
          <a:prstGeom prst="roundRect">
            <a:avLst>
              <a:gd name="adj" fmla="val 8889"/>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1" name="Text 8"/>
          <p:cNvSpPr/>
          <p:nvPr/>
        </p:nvSpPr>
        <p:spPr>
          <a:xfrm>
            <a:off x="5897880" y="2286000"/>
            <a:ext cx="1371600" cy="292608"/>
          </a:xfrm>
          <a:prstGeom prst="rect">
            <a:avLst/>
          </a:prstGeom>
          <a:noFill/>
          <a:ln/>
        </p:spPr>
        <p:txBody>
          <a:bodyPr wrap="square" rtlCol="0" anchor="ctr"/>
          <a:lstStyle/>
          <a:p>
            <a:pPr indent="0" marL="0">
              <a:buNone/>
            </a:pPr>
            <a:r>
              <a:rPr lang="en-US" sz="1100" b="1" dirty="0">
                <a:solidFill>
                  <a:srgbClr val="1A2E3C"/>
                </a:solidFill>
                <a:latin typeface="Calibri" pitchFamily="34" charset="0"/>
                <a:ea typeface="Calibri" pitchFamily="34" charset="-122"/>
                <a:cs typeface="Calibri" pitchFamily="34" charset="-120"/>
              </a:rPr>
              <a:t>🌸 Spring</a:t>
            </a:r>
            <a:endParaRPr lang="en-US" sz="1100" dirty="0"/>
          </a:p>
        </p:txBody>
      </p:sp>
      <p:sp>
        <p:nvSpPr>
          <p:cNvPr id="12" name="Text 9"/>
          <p:cNvSpPr/>
          <p:nvPr/>
        </p:nvSpPr>
        <p:spPr>
          <a:xfrm>
            <a:off x="5897880" y="2606040"/>
            <a:ext cx="1371600" cy="256032"/>
          </a:xfrm>
          <a:prstGeom prst="rect">
            <a:avLst/>
          </a:prstGeom>
          <a:noFill/>
          <a:ln/>
        </p:spPr>
        <p:txBody>
          <a:bodyPr wrap="square" rtlCol="0" anchor="ctr"/>
          <a:lstStyle/>
          <a:p>
            <a:pPr indent="0" marL="0">
              <a:buNone/>
            </a:pPr>
            <a:r>
              <a:rPr lang="en-US" sz="1000" dirty="0">
                <a:solidFill>
                  <a:srgbClr val="0077B6"/>
                </a:solidFill>
                <a:latin typeface="Calibri" pitchFamily="34" charset="0"/>
                <a:ea typeface="Calibri" pitchFamily="34" charset="-122"/>
                <a:cs typeface="Calibri" pitchFamily="34" charset="-120"/>
              </a:rPr>
              <a:t>AQI 121</a:t>
            </a:r>
            <a:endParaRPr lang="en-US" sz="1000" dirty="0"/>
          </a:p>
        </p:txBody>
      </p:sp>
      <p:sp>
        <p:nvSpPr>
          <p:cNvPr id="13" name="Text 10"/>
          <p:cNvSpPr/>
          <p:nvPr/>
        </p:nvSpPr>
        <p:spPr>
          <a:xfrm>
            <a:off x="7315200" y="2423160"/>
            <a:ext cx="1280160" cy="365760"/>
          </a:xfrm>
          <a:prstGeom prst="rect">
            <a:avLst/>
          </a:prstGeom>
          <a:noFill/>
          <a:ln/>
        </p:spPr>
        <p:txBody>
          <a:bodyPr wrap="square" rtlCol="0" anchor="ctr"/>
          <a:lstStyle/>
          <a:p>
            <a:pPr algn="r" indent="0" marL="0">
              <a:buNone/>
            </a:pPr>
            <a:r>
              <a:rPr lang="en-US" sz="950" i="1" dirty="0">
                <a:solidFill>
                  <a:srgbClr val="4A6FA5"/>
                </a:solidFill>
                <a:latin typeface="Calibri" pitchFamily="34" charset="0"/>
                <a:ea typeface="Calibri" pitchFamily="34" charset="-122"/>
                <a:cs typeface="Calibri" pitchFamily="34" charset="-120"/>
              </a:rPr>
              <a:t>Getting better</a:t>
            </a:r>
            <a:endParaRPr lang="en-US" sz="950" dirty="0"/>
          </a:p>
        </p:txBody>
      </p:sp>
      <p:sp>
        <p:nvSpPr>
          <p:cNvPr id="14" name="Shape 11"/>
          <p:cNvSpPr/>
          <p:nvPr/>
        </p:nvSpPr>
        <p:spPr>
          <a:xfrm>
            <a:off x="5760720" y="3200400"/>
            <a:ext cx="3017520" cy="822960"/>
          </a:xfrm>
          <a:prstGeom prst="roundRect">
            <a:avLst>
              <a:gd name="adj" fmla="val 8889"/>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5" name="Text 12"/>
          <p:cNvSpPr/>
          <p:nvPr/>
        </p:nvSpPr>
        <p:spPr>
          <a:xfrm>
            <a:off x="5897880" y="3291840"/>
            <a:ext cx="1371600" cy="292608"/>
          </a:xfrm>
          <a:prstGeom prst="rect">
            <a:avLst/>
          </a:prstGeom>
          <a:noFill/>
          <a:ln/>
        </p:spPr>
        <p:txBody>
          <a:bodyPr wrap="square" rtlCol="0" anchor="ctr"/>
          <a:lstStyle/>
          <a:p>
            <a:pPr indent="0" marL="0">
              <a:buNone/>
            </a:pPr>
            <a:r>
              <a:rPr lang="en-US" sz="1100" b="1" dirty="0">
                <a:solidFill>
                  <a:srgbClr val="1A2E3C"/>
                </a:solidFill>
                <a:latin typeface="Calibri" pitchFamily="34" charset="0"/>
                <a:ea typeface="Calibri" pitchFamily="34" charset="-122"/>
                <a:cs typeface="Calibri" pitchFamily="34" charset="-120"/>
              </a:rPr>
              <a:t>☀️ Summer</a:t>
            </a:r>
            <a:endParaRPr lang="en-US" sz="1100" dirty="0"/>
          </a:p>
        </p:txBody>
      </p:sp>
      <p:sp>
        <p:nvSpPr>
          <p:cNvPr id="16" name="Text 13"/>
          <p:cNvSpPr/>
          <p:nvPr/>
        </p:nvSpPr>
        <p:spPr>
          <a:xfrm>
            <a:off x="5897880" y="3611880"/>
            <a:ext cx="1371600" cy="256032"/>
          </a:xfrm>
          <a:prstGeom prst="rect">
            <a:avLst/>
          </a:prstGeom>
          <a:noFill/>
          <a:ln/>
        </p:spPr>
        <p:txBody>
          <a:bodyPr wrap="square" rtlCol="0" anchor="ctr"/>
          <a:lstStyle/>
          <a:p>
            <a:pPr indent="0" marL="0">
              <a:buNone/>
            </a:pPr>
            <a:r>
              <a:rPr lang="en-US" sz="1000" dirty="0">
                <a:solidFill>
                  <a:srgbClr val="0077B6"/>
                </a:solidFill>
                <a:latin typeface="Calibri" pitchFamily="34" charset="0"/>
                <a:ea typeface="Calibri" pitchFamily="34" charset="-122"/>
                <a:cs typeface="Calibri" pitchFamily="34" charset="-120"/>
              </a:rPr>
              <a:t>AQI 90</a:t>
            </a:r>
            <a:endParaRPr lang="en-US" sz="1000" dirty="0"/>
          </a:p>
        </p:txBody>
      </p:sp>
      <p:sp>
        <p:nvSpPr>
          <p:cNvPr id="17" name="Text 14"/>
          <p:cNvSpPr/>
          <p:nvPr/>
        </p:nvSpPr>
        <p:spPr>
          <a:xfrm>
            <a:off x="7315200" y="3429000"/>
            <a:ext cx="1280160" cy="365760"/>
          </a:xfrm>
          <a:prstGeom prst="rect">
            <a:avLst/>
          </a:prstGeom>
          <a:noFill/>
          <a:ln/>
        </p:spPr>
        <p:txBody>
          <a:bodyPr wrap="square" rtlCol="0" anchor="ctr"/>
          <a:lstStyle/>
          <a:p>
            <a:pPr algn="r" indent="0" marL="0">
              <a:buNone/>
            </a:pPr>
            <a:r>
              <a:rPr lang="en-US" sz="950" i="1" dirty="0">
                <a:solidFill>
                  <a:srgbClr val="4A6FA5"/>
                </a:solidFill>
                <a:latin typeface="Calibri" pitchFamily="34" charset="0"/>
                <a:ea typeface="Calibri" pitchFamily="34" charset="-122"/>
                <a:cs typeface="Calibri" pitchFamily="34" charset="-120"/>
              </a:rPr>
              <a:t>Best season</a:t>
            </a:r>
            <a:endParaRPr lang="en-US" sz="950" dirty="0"/>
          </a:p>
        </p:txBody>
      </p:sp>
      <p:sp>
        <p:nvSpPr>
          <p:cNvPr id="18" name="Shape 15"/>
          <p:cNvSpPr/>
          <p:nvPr/>
        </p:nvSpPr>
        <p:spPr>
          <a:xfrm>
            <a:off x="5760720" y="4206240"/>
            <a:ext cx="3017520" cy="822960"/>
          </a:xfrm>
          <a:prstGeom prst="roundRect">
            <a:avLst>
              <a:gd name="adj" fmla="val 8889"/>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9" name="Text 16"/>
          <p:cNvSpPr/>
          <p:nvPr/>
        </p:nvSpPr>
        <p:spPr>
          <a:xfrm>
            <a:off x="5897880" y="4297680"/>
            <a:ext cx="1371600" cy="292608"/>
          </a:xfrm>
          <a:prstGeom prst="rect">
            <a:avLst/>
          </a:prstGeom>
          <a:noFill/>
          <a:ln/>
        </p:spPr>
        <p:txBody>
          <a:bodyPr wrap="square" rtlCol="0" anchor="ctr"/>
          <a:lstStyle/>
          <a:p>
            <a:pPr indent="0" marL="0">
              <a:buNone/>
            </a:pPr>
            <a:r>
              <a:rPr lang="en-US" sz="1100" b="1" dirty="0">
                <a:solidFill>
                  <a:srgbClr val="1A2E3C"/>
                </a:solidFill>
                <a:latin typeface="Calibri" pitchFamily="34" charset="0"/>
                <a:ea typeface="Calibri" pitchFamily="34" charset="-122"/>
                <a:cs typeface="Calibri" pitchFamily="34" charset="-120"/>
              </a:rPr>
              <a:t>🍂 Autumn</a:t>
            </a:r>
            <a:endParaRPr lang="en-US" sz="1100" dirty="0"/>
          </a:p>
        </p:txBody>
      </p:sp>
      <p:sp>
        <p:nvSpPr>
          <p:cNvPr id="20" name="Text 17"/>
          <p:cNvSpPr/>
          <p:nvPr/>
        </p:nvSpPr>
        <p:spPr>
          <a:xfrm>
            <a:off x="5897880" y="4617720"/>
            <a:ext cx="1371600" cy="256032"/>
          </a:xfrm>
          <a:prstGeom prst="rect">
            <a:avLst/>
          </a:prstGeom>
          <a:noFill/>
          <a:ln/>
        </p:spPr>
        <p:txBody>
          <a:bodyPr wrap="square" rtlCol="0" anchor="ctr"/>
          <a:lstStyle/>
          <a:p>
            <a:pPr indent="0" marL="0">
              <a:buNone/>
            </a:pPr>
            <a:r>
              <a:rPr lang="en-US" sz="1000" dirty="0">
                <a:solidFill>
                  <a:srgbClr val="0077B6"/>
                </a:solidFill>
                <a:latin typeface="Calibri" pitchFamily="34" charset="0"/>
                <a:ea typeface="Calibri" pitchFamily="34" charset="-122"/>
                <a:cs typeface="Calibri" pitchFamily="34" charset="-120"/>
              </a:rPr>
              <a:t>AQI 127</a:t>
            </a:r>
            <a:endParaRPr lang="en-US" sz="1000" dirty="0"/>
          </a:p>
        </p:txBody>
      </p:sp>
      <p:sp>
        <p:nvSpPr>
          <p:cNvPr id="21" name="Text 18"/>
          <p:cNvSpPr/>
          <p:nvPr/>
        </p:nvSpPr>
        <p:spPr>
          <a:xfrm>
            <a:off x="7315200" y="4434840"/>
            <a:ext cx="1280160" cy="365760"/>
          </a:xfrm>
          <a:prstGeom prst="rect">
            <a:avLst/>
          </a:prstGeom>
          <a:noFill/>
          <a:ln/>
        </p:spPr>
        <p:txBody>
          <a:bodyPr wrap="square" rtlCol="0" anchor="ctr"/>
          <a:lstStyle/>
          <a:p>
            <a:pPr algn="r" indent="0" marL="0">
              <a:buNone/>
            </a:pPr>
            <a:r>
              <a:rPr lang="en-US" sz="950" i="1" dirty="0">
                <a:solidFill>
                  <a:srgbClr val="4A6FA5"/>
                </a:solidFill>
                <a:latin typeface="Calibri" pitchFamily="34" charset="0"/>
                <a:ea typeface="Calibri" pitchFamily="34" charset="-122"/>
                <a:cs typeface="Calibri" pitchFamily="34" charset="-120"/>
              </a:rPr>
              <a:t>Crop burning</a:t>
            </a:r>
            <a:endParaRPr lang="en-US" sz="950" dirty="0"/>
          </a:p>
        </p:txBody>
      </p:sp>
      <p:sp>
        <p:nvSpPr>
          <p:cNvPr id="22" name="Text 19"/>
          <p:cNvSpPr/>
          <p:nvPr/>
        </p:nvSpPr>
        <p:spPr>
          <a:xfrm>
            <a:off x="365760" y="4663440"/>
            <a:ext cx="8412480" cy="274320"/>
          </a:xfrm>
          <a:prstGeom prst="rect">
            <a:avLst/>
          </a:prstGeom>
          <a:noFill/>
          <a:ln/>
        </p:spPr>
        <p:txBody>
          <a:bodyPr wrap="square" rtlCol="0" anchor="ctr"/>
          <a:lstStyle/>
          <a:p>
            <a:pPr algn="ctr" indent="0" marL="0">
              <a:buNone/>
            </a:pPr>
            <a:r>
              <a:rPr lang="en-US" sz="850" i="1" dirty="0">
                <a:solidFill>
                  <a:srgbClr val="4A6FA5"/>
                </a:solidFill>
                <a:latin typeface="Calibri" pitchFamily="34" charset="0"/>
                <a:ea typeface="Calibri" pitchFamily="34" charset="-122"/>
                <a:cs typeface="Calibri" pitchFamily="34" charset="-120"/>
              </a:rPr>
              <a:t>November (AQI 163) is worst due to Punjab crop stubble burning  |  July–August (AQI 84) is cleanest due to monsoon rains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A3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00B4D8"/>
                </a:solidFill>
                <a:latin typeface="Calibri" pitchFamily="34" charset="0"/>
                <a:ea typeface="Calibri" pitchFamily="34" charset="-122"/>
                <a:cs typeface="Calibri" pitchFamily="34" charset="-120"/>
              </a:rPr>
              <a:t>PHASE 7</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Pollutant Analysis</a:t>
            </a:r>
            <a:endParaRPr lang="en-US" sz="2600" dirty="0"/>
          </a:p>
        </p:txBody>
      </p:sp>
      <p:sp>
        <p:nvSpPr>
          <p:cNvPr id="4" name="Text 2"/>
          <p:cNvSpPr/>
          <p:nvPr/>
        </p:nvSpPr>
        <p:spPr>
          <a:xfrm>
            <a:off x="365760" y="1097280"/>
            <a:ext cx="502920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Average Pollutant Levels (µg/m³)</a:t>
            </a:r>
            <a:endParaRPr lang="en-US" sz="1200" dirty="0"/>
          </a:p>
        </p:txBody>
      </p:sp>
      <p:graphicFrame>
        <p:nvGraphicFramePr>
          <p:cNvPr id="5" name="Chart 0" descr=""/>
          <p:cNvGraphicFramePr/>
          <p:nvPr/>
        </p:nvGraphicFramePr>
        <p:xfrm>
          <a:off x="365760" y="137160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52160" y="1188720"/>
            <a:ext cx="3017520" cy="804672"/>
          </a:xfrm>
          <a:prstGeom prst="roundRect">
            <a:avLst>
              <a:gd name="adj" fmla="val 9091"/>
            </a:avLst>
          </a:prstGeom>
          <a:solidFill>
            <a:srgbClr val="163A52"/>
          </a:solidFill>
          <a:ln w="12700">
            <a:solidFill>
              <a:srgbClr val="1E5070"/>
            </a:solidFill>
            <a:prstDash val="solid"/>
          </a:ln>
        </p:spPr>
      </p:sp>
      <p:sp>
        <p:nvSpPr>
          <p:cNvPr id="7" name="Text 4"/>
          <p:cNvSpPr/>
          <p:nvPr/>
        </p:nvSpPr>
        <p:spPr>
          <a:xfrm>
            <a:off x="5989320" y="1252728"/>
            <a:ext cx="1828800" cy="274320"/>
          </a:xfrm>
          <a:prstGeom prst="rect">
            <a:avLst/>
          </a:prstGeom>
          <a:noFill/>
          <a:ln/>
        </p:spPr>
        <p:txBody>
          <a:bodyPr wrap="square"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PM2.5</a:t>
            </a:r>
            <a:endParaRPr lang="en-US" sz="1000" dirty="0"/>
          </a:p>
        </p:txBody>
      </p:sp>
      <p:sp>
        <p:nvSpPr>
          <p:cNvPr id="8" name="Text 5"/>
          <p:cNvSpPr/>
          <p:nvPr/>
        </p:nvSpPr>
        <p:spPr>
          <a:xfrm>
            <a:off x="7498080" y="1216152"/>
            <a:ext cx="1188720" cy="384048"/>
          </a:xfrm>
          <a:prstGeom prst="rect">
            <a:avLst/>
          </a:prstGeom>
          <a:noFill/>
          <a:ln/>
        </p:spPr>
        <p:txBody>
          <a:bodyPr wrap="square" rtlCol="0" anchor="ctr"/>
          <a:lstStyle/>
          <a:p>
            <a:pPr algn="r" indent="0" marL="0">
              <a:buNone/>
            </a:pPr>
            <a:r>
              <a:rPr lang="en-US" sz="2200" b="1" dirty="0">
                <a:solidFill>
                  <a:srgbClr val="FFFFFF"/>
                </a:solidFill>
                <a:latin typeface="Calibri" pitchFamily="34" charset="0"/>
                <a:ea typeface="Calibri" pitchFamily="34" charset="-122"/>
                <a:cs typeface="Calibri" pitchFamily="34" charset="-120"/>
              </a:rPr>
              <a:t>11x</a:t>
            </a:r>
            <a:endParaRPr lang="en-US" sz="2200" dirty="0"/>
          </a:p>
        </p:txBody>
      </p:sp>
      <p:sp>
        <p:nvSpPr>
          <p:cNvPr id="9" name="Text 6"/>
          <p:cNvSpPr/>
          <p:nvPr/>
        </p:nvSpPr>
        <p:spPr>
          <a:xfrm>
            <a:off x="5989320" y="1627632"/>
            <a:ext cx="2743200" cy="256032"/>
          </a:xfrm>
          <a:prstGeom prst="rect">
            <a:avLst/>
          </a:prstGeom>
          <a:noFill/>
          <a:ln/>
        </p:spPr>
        <p:txBody>
          <a:bodyPr wrap="square" rtlCol="0" anchor="ctr"/>
          <a:lstStyle/>
          <a:p>
            <a:pPr indent="0" marL="0">
              <a:buNone/>
            </a:pPr>
            <a:r>
              <a:rPr lang="en-US" sz="850" dirty="0">
                <a:solidFill>
                  <a:srgbClr val="A8C8E0"/>
                </a:solidFill>
                <a:latin typeface="Calibri" pitchFamily="34" charset="0"/>
                <a:ea typeface="Calibri" pitchFamily="34" charset="-122"/>
                <a:cs typeface="Calibri" pitchFamily="34" charset="-120"/>
              </a:rPr>
              <a:t>above WHO safe limit of 5 µg/m³</a:t>
            </a:r>
            <a:endParaRPr lang="en-US" sz="850" dirty="0"/>
          </a:p>
        </p:txBody>
      </p:sp>
      <p:sp>
        <p:nvSpPr>
          <p:cNvPr id="10" name="Shape 7"/>
          <p:cNvSpPr/>
          <p:nvPr/>
        </p:nvSpPr>
        <p:spPr>
          <a:xfrm>
            <a:off x="5852160" y="2148840"/>
            <a:ext cx="3017520" cy="804672"/>
          </a:xfrm>
          <a:prstGeom prst="roundRect">
            <a:avLst>
              <a:gd name="adj" fmla="val 9091"/>
            </a:avLst>
          </a:prstGeom>
          <a:solidFill>
            <a:srgbClr val="163A52"/>
          </a:solidFill>
          <a:ln w="12700">
            <a:solidFill>
              <a:srgbClr val="1E5070"/>
            </a:solidFill>
            <a:prstDash val="solid"/>
          </a:ln>
        </p:spPr>
      </p:sp>
      <p:sp>
        <p:nvSpPr>
          <p:cNvPr id="11" name="Text 8"/>
          <p:cNvSpPr/>
          <p:nvPr/>
        </p:nvSpPr>
        <p:spPr>
          <a:xfrm>
            <a:off x="5989320" y="2212848"/>
            <a:ext cx="1828800" cy="274320"/>
          </a:xfrm>
          <a:prstGeom prst="rect">
            <a:avLst/>
          </a:prstGeom>
          <a:noFill/>
          <a:ln/>
        </p:spPr>
        <p:txBody>
          <a:bodyPr wrap="square"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PM10</a:t>
            </a:r>
            <a:endParaRPr lang="en-US" sz="1000" dirty="0"/>
          </a:p>
        </p:txBody>
      </p:sp>
      <p:sp>
        <p:nvSpPr>
          <p:cNvPr id="12" name="Text 9"/>
          <p:cNvSpPr/>
          <p:nvPr/>
        </p:nvSpPr>
        <p:spPr>
          <a:xfrm>
            <a:off x="7498080" y="2176272"/>
            <a:ext cx="1188720" cy="384048"/>
          </a:xfrm>
          <a:prstGeom prst="rect">
            <a:avLst/>
          </a:prstGeom>
          <a:noFill/>
          <a:ln/>
        </p:spPr>
        <p:txBody>
          <a:bodyPr wrap="square" rtlCol="0" anchor="ctr"/>
          <a:lstStyle/>
          <a:p>
            <a:pPr algn="r" indent="0" marL="0">
              <a:buNone/>
            </a:pPr>
            <a:r>
              <a:rPr lang="en-US" sz="2200" b="1" dirty="0">
                <a:solidFill>
                  <a:srgbClr val="FFFFFF"/>
                </a:solidFill>
                <a:latin typeface="Calibri" pitchFamily="34" charset="0"/>
                <a:ea typeface="Calibri" pitchFamily="34" charset="-122"/>
                <a:cs typeface="Calibri" pitchFamily="34" charset="-120"/>
              </a:rPr>
              <a:t>8x</a:t>
            </a:r>
            <a:endParaRPr lang="en-US" sz="2200" dirty="0"/>
          </a:p>
        </p:txBody>
      </p:sp>
      <p:sp>
        <p:nvSpPr>
          <p:cNvPr id="13" name="Text 10"/>
          <p:cNvSpPr/>
          <p:nvPr/>
        </p:nvSpPr>
        <p:spPr>
          <a:xfrm>
            <a:off x="5989320" y="2587752"/>
            <a:ext cx="2743200" cy="256032"/>
          </a:xfrm>
          <a:prstGeom prst="rect">
            <a:avLst/>
          </a:prstGeom>
          <a:noFill/>
          <a:ln/>
        </p:spPr>
        <p:txBody>
          <a:bodyPr wrap="square" rtlCol="0" anchor="ctr"/>
          <a:lstStyle/>
          <a:p>
            <a:pPr indent="0" marL="0">
              <a:buNone/>
            </a:pPr>
            <a:r>
              <a:rPr lang="en-US" sz="850" dirty="0">
                <a:solidFill>
                  <a:srgbClr val="A8C8E0"/>
                </a:solidFill>
                <a:latin typeface="Calibri" pitchFamily="34" charset="0"/>
                <a:ea typeface="Calibri" pitchFamily="34" charset="-122"/>
                <a:cs typeface="Calibri" pitchFamily="34" charset="-120"/>
              </a:rPr>
              <a:t>above WHO safe limit of 15 µg/m³</a:t>
            </a:r>
            <a:endParaRPr lang="en-US" sz="850" dirty="0"/>
          </a:p>
        </p:txBody>
      </p:sp>
      <p:sp>
        <p:nvSpPr>
          <p:cNvPr id="14" name="Shape 11"/>
          <p:cNvSpPr/>
          <p:nvPr/>
        </p:nvSpPr>
        <p:spPr>
          <a:xfrm>
            <a:off x="5852160" y="3108960"/>
            <a:ext cx="3017520" cy="804672"/>
          </a:xfrm>
          <a:prstGeom prst="roundRect">
            <a:avLst>
              <a:gd name="adj" fmla="val 9091"/>
            </a:avLst>
          </a:prstGeom>
          <a:solidFill>
            <a:srgbClr val="163A52"/>
          </a:solidFill>
          <a:ln w="12700">
            <a:solidFill>
              <a:srgbClr val="1E5070"/>
            </a:solidFill>
            <a:prstDash val="solid"/>
          </a:ln>
        </p:spPr>
      </p:sp>
      <p:sp>
        <p:nvSpPr>
          <p:cNvPr id="15" name="Text 12"/>
          <p:cNvSpPr/>
          <p:nvPr/>
        </p:nvSpPr>
        <p:spPr>
          <a:xfrm>
            <a:off x="5989320" y="3172968"/>
            <a:ext cx="1828800" cy="274320"/>
          </a:xfrm>
          <a:prstGeom prst="rect">
            <a:avLst/>
          </a:prstGeom>
          <a:noFill/>
          <a:ln/>
        </p:spPr>
        <p:txBody>
          <a:bodyPr wrap="square"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PM2.5 → AQI</a:t>
            </a:r>
            <a:endParaRPr lang="en-US" sz="1000" dirty="0"/>
          </a:p>
        </p:txBody>
      </p:sp>
      <p:sp>
        <p:nvSpPr>
          <p:cNvPr id="16" name="Text 13"/>
          <p:cNvSpPr/>
          <p:nvPr/>
        </p:nvSpPr>
        <p:spPr>
          <a:xfrm>
            <a:off x="7498080" y="3136392"/>
            <a:ext cx="1188720" cy="384048"/>
          </a:xfrm>
          <a:prstGeom prst="rect">
            <a:avLst/>
          </a:prstGeom>
          <a:noFill/>
          <a:ln/>
        </p:spPr>
        <p:txBody>
          <a:bodyPr wrap="square" rtlCol="0" anchor="ctr"/>
          <a:lstStyle/>
          <a:p>
            <a:pPr algn="r" indent="0" marL="0">
              <a:buNone/>
            </a:pPr>
            <a:r>
              <a:rPr lang="en-US" sz="2200" b="1" dirty="0">
                <a:solidFill>
                  <a:srgbClr val="FFFFFF"/>
                </a:solidFill>
                <a:latin typeface="Calibri" pitchFamily="34" charset="0"/>
                <a:ea typeface="Calibri" pitchFamily="34" charset="-122"/>
                <a:cs typeface="Calibri" pitchFamily="34" charset="-120"/>
              </a:rPr>
              <a:t>0.95</a:t>
            </a:r>
            <a:endParaRPr lang="en-US" sz="2200" dirty="0"/>
          </a:p>
        </p:txBody>
      </p:sp>
      <p:sp>
        <p:nvSpPr>
          <p:cNvPr id="17" name="Text 14"/>
          <p:cNvSpPr/>
          <p:nvPr/>
        </p:nvSpPr>
        <p:spPr>
          <a:xfrm>
            <a:off x="5989320" y="3547872"/>
            <a:ext cx="2743200" cy="256032"/>
          </a:xfrm>
          <a:prstGeom prst="rect">
            <a:avLst/>
          </a:prstGeom>
          <a:noFill/>
          <a:ln/>
        </p:spPr>
        <p:txBody>
          <a:bodyPr wrap="square" rtlCol="0" anchor="ctr"/>
          <a:lstStyle/>
          <a:p>
            <a:pPr indent="0" marL="0">
              <a:buNone/>
            </a:pPr>
            <a:r>
              <a:rPr lang="en-US" sz="850" dirty="0">
                <a:solidFill>
                  <a:srgbClr val="A8C8E0"/>
                </a:solidFill>
                <a:latin typeface="Calibri" pitchFamily="34" charset="0"/>
                <a:ea typeface="Calibri" pitchFamily="34" charset="-122"/>
                <a:cs typeface="Calibri" pitchFamily="34" charset="-120"/>
              </a:rPr>
              <a:t>near-perfect correlation</a:t>
            </a:r>
            <a:endParaRPr lang="en-US" sz="850" dirty="0"/>
          </a:p>
        </p:txBody>
      </p:sp>
      <p:sp>
        <p:nvSpPr>
          <p:cNvPr id="18" name="Shape 15"/>
          <p:cNvSpPr/>
          <p:nvPr/>
        </p:nvSpPr>
        <p:spPr>
          <a:xfrm>
            <a:off x="5852160" y="4069080"/>
            <a:ext cx="3017520" cy="804672"/>
          </a:xfrm>
          <a:prstGeom prst="roundRect">
            <a:avLst>
              <a:gd name="adj" fmla="val 9091"/>
            </a:avLst>
          </a:prstGeom>
          <a:solidFill>
            <a:srgbClr val="163A52"/>
          </a:solidFill>
          <a:ln w="12700">
            <a:solidFill>
              <a:srgbClr val="1E5070"/>
            </a:solidFill>
            <a:prstDash val="solid"/>
          </a:ln>
        </p:spPr>
      </p:sp>
      <p:sp>
        <p:nvSpPr>
          <p:cNvPr id="19" name="Text 16"/>
          <p:cNvSpPr/>
          <p:nvPr/>
        </p:nvSpPr>
        <p:spPr>
          <a:xfrm>
            <a:off x="5989320" y="4133088"/>
            <a:ext cx="1828800" cy="274320"/>
          </a:xfrm>
          <a:prstGeom prst="rect">
            <a:avLst/>
          </a:prstGeom>
          <a:noFill/>
          <a:ln/>
        </p:spPr>
        <p:txBody>
          <a:bodyPr wrap="square"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NO2 decline</a:t>
            </a:r>
            <a:endParaRPr lang="en-US" sz="1000" dirty="0"/>
          </a:p>
        </p:txBody>
      </p:sp>
      <p:sp>
        <p:nvSpPr>
          <p:cNvPr id="20" name="Text 17"/>
          <p:cNvSpPr/>
          <p:nvPr/>
        </p:nvSpPr>
        <p:spPr>
          <a:xfrm>
            <a:off x="7498080" y="4096512"/>
            <a:ext cx="1188720" cy="384048"/>
          </a:xfrm>
          <a:prstGeom prst="rect">
            <a:avLst/>
          </a:prstGeom>
          <a:noFill/>
          <a:ln/>
        </p:spPr>
        <p:txBody>
          <a:bodyPr wrap="square" rtlCol="0" anchor="ctr"/>
          <a:lstStyle/>
          <a:p>
            <a:pPr algn="r" indent="0" marL="0">
              <a:buNone/>
            </a:pPr>
            <a:r>
              <a:rPr lang="en-US" sz="2200" b="1" dirty="0">
                <a:solidFill>
                  <a:srgbClr val="FFFFFF"/>
                </a:solidFill>
                <a:latin typeface="Calibri" pitchFamily="34" charset="0"/>
                <a:ea typeface="Calibri" pitchFamily="34" charset="-122"/>
                <a:cs typeface="Calibri" pitchFamily="34" charset="-120"/>
              </a:rPr>
              <a:t>44%</a:t>
            </a:r>
            <a:endParaRPr lang="en-US" sz="2200" dirty="0"/>
          </a:p>
        </p:txBody>
      </p:sp>
      <p:sp>
        <p:nvSpPr>
          <p:cNvPr id="21" name="Text 18"/>
          <p:cNvSpPr/>
          <p:nvPr/>
        </p:nvSpPr>
        <p:spPr>
          <a:xfrm>
            <a:off x="5989320" y="4507992"/>
            <a:ext cx="2743200" cy="256032"/>
          </a:xfrm>
          <a:prstGeom prst="rect">
            <a:avLst/>
          </a:prstGeom>
          <a:noFill/>
          <a:ln/>
        </p:spPr>
        <p:txBody>
          <a:bodyPr wrap="square" rtlCol="0" anchor="ctr"/>
          <a:lstStyle/>
          <a:p>
            <a:pPr indent="0" marL="0">
              <a:buNone/>
            </a:pPr>
            <a:r>
              <a:rPr lang="en-US" sz="850" dirty="0">
                <a:solidFill>
                  <a:srgbClr val="A8C8E0"/>
                </a:solidFill>
                <a:latin typeface="Calibri" pitchFamily="34" charset="0"/>
                <a:ea typeface="Calibri" pitchFamily="34" charset="-122"/>
                <a:cs typeface="Calibri" pitchFamily="34" charset="-120"/>
              </a:rPr>
              <a:t>reduction over 15 years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4A6FA5"/>
                </a:solidFill>
                <a:latin typeface="Calibri" pitchFamily="34" charset="0"/>
                <a:ea typeface="Calibri" pitchFamily="34" charset="-122"/>
                <a:cs typeface="Calibri" pitchFamily="34" charset="-120"/>
              </a:rPr>
              <a:t>SPOTLIGHT</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A2E3C"/>
                </a:solidFill>
                <a:latin typeface="Calibri" pitchFamily="34" charset="0"/>
                <a:ea typeface="Calibri" pitchFamily="34" charset="-122"/>
                <a:cs typeface="Calibri" pitchFamily="34" charset="-120"/>
              </a:rPr>
              <a:t>Punjab — A Closer Look</a:t>
            </a:r>
            <a:endParaRPr lang="en-US" sz="2600" dirty="0"/>
          </a:p>
        </p:txBody>
      </p:sp>
      <p:sp>
        <p:nvSpPr>
          <p:cNvPr id="4" name="Text 2"/>
          <p:cNvSpPr/>
          <p:nvPr/>
        </p:nvSpPr>
        <p:spPr>
          <a:xfrm>
            <a:off x="365760" y="1097280"/>
            <a:ext cx="5303520" cy="274320"/>
          </a:xfrm>
          <a:prstGeom prst="rect">
            <a:avLst/>
          </a:prstGeom>
          <a:noFill/>
          <a:ln/>
        </p:spPr>
        <p:txBody>
          <a:bodyPr wrap="square" rtlCol="0" anchor="ctr"/>
          <a:lstStyle/>
          <a:p>
            <a:pPr indent="0" marL="0">
              <a:buNone/>
            </a:pPr>
            <a:r>
              <a:rPr lang="en-US" sz="1200" b="1" dirty="0">
                <a:solidFill>
                  <a:srgbClr val="1A2E3C"/>
                </a:solidFill>
                <a:latin typeface="Calibri" pitchFamily="34" charset="0"/>
                <a:ea typeface="Calibri" pitchFamily="34" charset="-122"/>
                <a:cs typeface="Calibri" pitchFamily="34" charset="-120"/>
              </a:rPr>
              <a:t>Month-wise AQI — Punjab vs India</a:t>
            </a:r>
            <a:endParaRPr lang="en-US" sz="1200" dirty="0"/>
          </a:p>
        </p:txBody>
      </p:sp>
      <p:graphicFrame>
        <p:nvGraphicFramePr>
          <p:cNvPr id="5" name="Chart 0" descr=""/>
          <p:cNvGraphicFramePr/>
          <p:nvPr/>
        </p:nvGraphicFramePr>
        <p:xfrm>
          <a:off x="365760" y="137160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760720" y="1097280"/>
            <a:ext cx="3108960" cy="274320"/>
          </a:xfrm>
          <a:prstGeom prst="rect">
            <a:avLst/>
          </a:prstGeom>
          <a:noFill/>
          <a:ln/>
        </p:spPr>
        <p:txBody>
          <a:bodyPr wrap="square" rtlCol="0" anchor="ctr"/>
          <a:lstStyle/>
          <a:p>
            <a:pPr indent="0" marL="0">
              <a:buNone/>
            </a:pPr>
            <a:r>
              <a:rPr lang="en-US" sz="1200" b="1" dirty="0">
                <a:solidFill>
                  <a:srgbClr val="1A2E3C"/>
                </a:solidFill>
                <a:latin typeface="Calibri" pitchFamily="34" charset="0"/>
                <a:ea typeface="Calibri" pitchFamily="34" charset="-122"/>
                <a:cs typeface="Calibri" pitchFamily="34" charset="-120"/>
              </a:rPr>
              <a:t>Punjab Stations by AQI</a:t>
            </a:r>
            <a:endParaRPr lang="en-US" sz="1200" dirty="0"/>
          </a:p>
        </p:txBody>
      </p:sp>
      <p:sp>
        <p:nvSpPr>
          <p:cNvPr id="7" name="Shape 4"/>
          <p:cNvSpPr/>
          <p:nvPr/>
        </p:nvSpPr>
        <p:spPr>
          <a:xfrm>
            <a:off x="5760720" y="1417320"/>
            <a:ext cx="3108960" cy="475488"/>
          </a:xfrm>
          <a:prstGeom prst="roundRect">
            <a:avLst>
              <a:gd name="adj" fmla="val 11538"/>
            </a:avLst>
          </a:prstGeom>
          <a:solidFill>
            <a:srgbClr val="FFFFFF"/>
          </a:solidFill>
          <a:ln w="12700">
            <a:solidFill>
              <a:srgbClr val="D0E8F5"/>
            </a:solidFill>
            <a:prstDash val="solid"/>
          </a:ln>
        </p:spPr>
      </p:sp>
      <p:sp>
        <p:nvSpPr>
          <p:cNvPr id="8" name="Shape 5"/>
          <p:cNvSpPr/>
          <p:nvPr/>
        </p:nvSpPr>
        <p:spPr>
          <a:xfrm>
            <a:off x="5779008" y="1490472"/>
            <a:ext cx="329184" cy="329184"/>
          </a:xfrm>
          <a:prstGeom prst="roundRect">
            <a:avLst>
              <a:gd name="adj" fmla="val 13889"/>
            </a:avLst>
          </a:prstGeom>
          <a:solidFill>
            <a:srgbClr val="C1121F"/>
          </a:solidFill>
          <a:ln w="12700">
            <a:solidFill>
              <a:srgbClr val="C1121F"/>
            </a:solidFill>
            <a:prstDash val="solid"/>
          </a:ln>
        </p:spPr>
      </p:sp>
      <p:sp>
        <p:nvSpPr>
          <p:cNvPr id="9" name="Text 6"/>
          <p:cNvSpPr/>
          <p:nvPr/>
        </p:nvSpPr>
        <p:spPr>
          <a:xfrm>
            <a:off x="6172200" y="1517904"/>
            <a:ext cx="1645920" cy="274320"/>
          </a:xfrm>
          <a:prstGeom prst="rect">
            <a:avLst/>
          </a:prstGeom>
          <a:noFill/>
          <a:ln/>
        </p:spPr>
        <p:txBody>
          <a:bodyPr wrap="square" rtlCol="0" anchor="ctr"/>
          <a:lstStyle/>
          <a:p>
            <a:pPr indent="0" marL="0">
              <a:buNone/>
            </a:pPr>
            <a:r>
              <a:rPr lang="en-US" sz="1050" b="1" dirty="0">
                <a:solidFill>
                  <a:srgbClr val="1A2E3C"/>
                </a:solidFill>
                <a:latin typeface="Calibri" pitchFamily="34" charset="0"/>
                <a:ea typeface="Calibri" pitchFamily="34" charset="-122"/>
                <a:cs typeface="Calibri" pitchFamily="34" charset="-120"/>
              </a:rPr>
              <a:t>Bathinda</a:t>
            </a:r>
            <a:endParaRPr lang="en-US" sz="1050" dirty="0"/>
          </a:p>
        </p:txBody>
      </p:sp>
      <p:sp>
        <p:nvSpPr>
          <p:cNvPr id="10" name="Text 7"/>
          <p:cNvSpPr/>
          <p:nvPr/>
        </p:nvSpPr>
        <p:spPr>
          <a:xfrm>
            <a:off x="7863840" y="1517904"/>
            <a:ext cx="822960" cy="274320"/>
          </a:xfrm>
          <a:prstGeom prst="rect">
            <a:avLst/>
          </a:prstGeom>
          <a:noFill/>
          <a:ln/>
        </p:spPr>
        <p:txBody>
          <a:bodyPr wrap="square" rtlCol="0" anchor="ctr"/>
          <a:lstStyle/>
          <a:p>
            <a:pPr algn="r" indent="0" marL="0">
              <a:buNone/>
            </a:pPr>
            <a:r>
              <a:rPr lang="en-US" sz="1050" dirty="0">
                <a:solidFill>
                  <a:srgbClr val="0077B6"/>
                </a:solidFill>
                <a:latin typeface="Calibri" pitchFamily="34" charset="0"/>
                <a:ea typeface="Calibri" pitchFamily="34" charset="-122"/>
                <a:cs typeface="Calibri" pitchFamily="34" charset="-120"/>
              </a:rPr>
              <a:t>AQI 149</a:t>
            </a:r>
            <a:endParaRPr lang="en-US" sz="1050" dirty="0"/>
          </a:p>
        </p:txBody>
      </p:sp>
      <p:sp>
        <p:nvSpPr>
          <p:cNvPr id="11" name="Shape 8"/>
          <p:cNvSpPr/>
          <p:nvPr/>
        </p:nvSpPr>
        <p:spPr>
          <a:xfrm>
            <a:off x="5760720" y="1984248"/>
            <a:ext cx="3108960" cy="475488"/>
          </a:xfrm>
          <a:prstGeom prst="roundRect">
            <a:avLst>
              <a:gd name="adj" fmla="val 11538"/>
            </a:avLst>
          </a:prstGeom>
          <a:solidFill>
            <a:srgbClr val="FFFFFF"/>
          </a:solidFill>
          <a:ln w="12700">
            <a:solidFill>
              <a:srgbClr val="D0E8F5"/>
            </a:solidFill>
            <a:prstDash val="solid"/>
          </a:ln>
        </p:spPr>
      </p:sp>
      <p:sp>
        <p:nvSpPr>
          <p:cNvPr id="12" name="Shape 9"/>
          <p:cNvSpPr/>
          <p:nvPr/>
        </p:nvSpPr>
        <p:spPr>
          <a:xfrm>
            <a:off x="5779008" y="2057400"/>
            <a:ext cx="329184" cy="329184"/>
          </a:xfrm>
          <a:prstGeom prst="roundRect">
            <a:avLst>
              <a:gd name="adj" fmla="val 13889"/>
            </a:avLst>
          </a:prstGeom>
          <a:solidFill>
            <a:srgbClr val="E63946"/>
          </a:solidFill>
          <a:ln w="12700">
            <a:solidFill>
              <a:srgbClr val="E63946"/>
            </a:solidFill>
            <a:prstDash val="solid"/>
          </a:ln>
        </p:spPr>
      </p:sp>
      <p:sp>
        <p:nvSpPr>
          <p:cNvPr id="13" name="Text 10"/>
          <p:cNvSpPr/>
          <p:nvPr/>
        </p:nvSpPr>
        <p:spPr>
          <a:xfrm>
            <a:off x="6172200" y="2084832"/>
            <a:ext cx="1645920" cy="274320"/>
          </a:xfrm>
          <a:prstGeom prst="rect">
            <a:avLst/>
          </a:prstGeom>
          <a:noFill/>
          <a:ln/>
        </p:spPr>
        <p:txBody>
          <a:bodyPr wrap="square" rtlCol="0" anchor="ctr"/>
          <a:lstStyle/>
          <a:p>
            <a:pPr indent="0" marL="0">
              <a:buNone/>
            </a:pPr>
            <a:r>
              <a:rPr lang="en-US" sz="1050" b="1" dirty="0">
                <a:solidFill>
                  <a:srgbClr val="1A2E3C"/>
                </a:solidFill>
                <a:latin typeface="Calibri" pitchFamily="34" charset="0"/>
                <a:ea typeface="Calibri" pitchFamily="34" charset="-122"/>
                <a:cs typeface="Calibri" pitchFamily="34" charset="-120"/>
              </a:rPr>
              <a:t>Ludhiana</a:t>
            </a:r>
            <a:endParaRPr lang="en-US" sz="1050" dirty="0"/>
          </a:p>
        </p:txBody>
      </p:sp>
      <p:sp>
        <p:nvSpPr>
          <p:cNvPr id="14" name="Text 11"/>
          <p:cNvSpPr/>
          <p:nvPr/>
        </p:nvSpPr>
        <p:spPr>
          <a:xfrm>
            <a:off x="7863840" y="2084832"/>
            <a:ext cx="822960" cy="274320"/>
          </a:xfrm>
          <a:prstGeom prst="rect">
            <a:avLst/>
          </a:prstGeom>
          <a:noFill/>
          <a:ln/>
        </p:spPr>
        <p:txBody>
          <a:bodyPr wrap="square" rtlCol="0" anchor="ctr"/>
          <a:lstStyle/>
          <a:p>
            <a:pPr algn="r" indent="0" marL="0">
              <a:buNone/>
            </a:pPr>
            <a:r>
              <a:rPr lang="en-US" sz="1050" dirty="0">
                <a:solidFill>
                  <a:srgbClr val="0077B6"/>
                </a:solidFill>
                <a:latin typeface="Calibri" pitchFamily="34" charset="0"/>
                <a:ea typeface="Calibri" pitchFamily="34" charset="-122"/>
                <a:cs typeface="Calibri" pitchFamily="34" charset="-120"/>
              </a:rPr>
              <a:t>AQI 148</a:t>
            </a:r>
            <a:endParaRPr lang="en-US" sz="1050" dirty="0"/>
          </a:p>
        </p:txBody>
      </p:sp>
      <p:sp>
        <p:nvSpPr>
          <p:cNvPr id="15" name="Shape 12"/>
          <p:cNvSpPr/>
          <p:nvPr/>
        </p:nvSpPr>
        <p:spPr>
          <a:xfrm>
            <a:off x="5760720" y="2551176"/>
            <a:ext cx="3108960" cy="475488"/>
          </a:xfrm>
          <a:prstGeom prst="roundRect">
            <a:avLst>
              <a:gd name="adj" fmla="val 11538"/>
            </a:avLst>
          </a:prstGeom>
          <a:solidFill>
            <a:srgbClr val="FFFFFF"/>
          </a:solidFill>
          <a:ln w="12700">
            <a:solidFill>
              <a:srgbClr val="D0E8F5"/>
            </a:solidFill>
            <a:prstDash val="solid"/>
          </a:ln>
        </p:spPr>
      </p:sp>
      <p:sp>
        <p:nvSpPr>
          <p:cNvPr id="16" name="Shape 13"/>
          <p:cNvSpPr/>
          <p:nvPr/>
        </p:nvSpPr>
        <p:spPr>
          <a:xfrm>
            <a:off x="5779008" y="2624328"/>
            <a:ext cx="329184" cy="329184"/>
          </a:xfrm>
          <a:prstGeom prst="roundRect">
            <a:avLst>
              <a:gd name="adj" fmla="val 13889"/>
            </a:avLst>
          </a:prstGeom>
          <a:solidFill>
            <a:srgbClr val="F4A261"/>
          </a:solidFill>
          <a:ln w="12700">
            <a:solidFill>
              <a:srgbClr val="F4A261"/>
            </a:solidFill>
            <a:prstDash val="solid"/>
          </a:ln>
        </p:spPr>
      </p:sp>
      <p:sp>
        <p:nvSpPr>
          <p:cNvPr id="17" name="Text 14"/>
          <p:cNvSpPr/>
          <p:nvPr/>
        </p:nvSpPr>
        <p:spPr>
          <a:xfrm>
            <a:off x="6172200" y="2651760"/>
            <a:ext cx="1645920" cy="274320"/>
          </a:xfrm>
          <a:prstGeom prst="rect">
            <a:avLst/>
          </a:prstGeom>
          <a:noFill/>
          <a:ln/>
        </p:spPr>
        <p:txBody>
          <a:bodyPr wrap="square" rtlCol="0" anchor="ctr"/>
          <a:lstStyle/>
          <a:p>
            <a:pPr indent="0" marL="0">
              <a:buNone/>
            </a:pPr>
            <a:r>
              <a:rPr lang="en-US" sz="1050" b="1" dirty="0">
                <a:solidFill>
                  <a:srgbClr val="1A2E3C"/>
                </a:solidFill>
                <a:latin typeface="Calibri" pitchFamily="34" charset="0"/>
                <a:ea typeface="Calibri" pitchFamily="34" charset="-122"/>
                <a:cs typeface="Calibri" pitchFamily="34" charset="-120"/>
              </a:rPr>
              <a:t>PPCB</a:t>
            </a:r>
            <a:endParaRPr lang="en-US" sz="1050" dirty="0"/>
          </a:p>
        </p:txBody>
      </p:sp>
      <p:sp>
        <p:nvSpPr>
          <p:cNvPr id="18" name="Text 15"/>
          <p:cNvSpPr/>
          <p:nvPr/>
        </p:nvSpPr>
        <p:spPr>
          <a:xfrm>
            <a:off x="7863840" y="2651760"/>
            <a:ext cx="822960" cy="274320"/>
          </a:xfrm>
          <a:prstGeom prst="rect">
            <a:avLst/>
          </a:prstGeom>
          <a:noFill/>
          <a:ln/>
        </p:spPr>
        <p:txBody>
          <a:bodyPr wrap="square" rtlCol="0" anchor="ctr"/>
          <a:lstStyle/>
          <a:p>
            <a:pPr algn="r" indent="0" marL="0">
              <a:buNone/>
            </a:pPr>
            <a:r>
              <a:rPr lang="en-US" sz="1050" dirty="0">
                <a:solidFill>
                  <a:srgbClr val="0077B6"/>
                </a:solidFill>
                <a:latin typeface="Calibri" pitchFamily="34" charset="0"/>
                <a:ea typeface="Calibri" pitchFamily="34" charset="-122"/>
                <a:cs typeface="Calibri" pitchFamily="34" charset="-120"/>
              </a:rPr>
              <a:t>AQI 129</a:t>
            </a:r>
            <a:endParaRPr lang="en-US" sz="1050" dirty="0"/>
          </a:p>
        </p:txBody>
      </p:sp>
      <p:sp>
        <p:nvSpPr>
          <p:cNvPr id="19" name="Shape 16"/>
          <p:cNvSpPr/>
          <p:nvPr/>
        </p:nvSpPr>
        <p:spPr>
          <a:xfrm>
            <a:off x="5760720" y="3118104"/>
            <a:ext cx="3108960" cy="475488"/>
          </a:xfrm>
          <a:prstGeom prst="roundRect">
            <a:avLst>
              <a:gd name="adj" fmla="val 11538"/>
            </a:avLst>
          </a:prstGeom>
          <a:solidFill>
            <a:srgbClr val="FFFFFF"/>
          </a:solidFill>
          <a:ln w="12700">
            <a:solidFill>
              <a:srgbClr val="D0E8F5"/>
            </a:solidFill>
            <a:prstDash val="solid"/>
          </a:ln>
        </p:spPr>
      </p:sp>
      <p:sp>
        <p:nvSpPr>
          <p:cNvPr id="20" name="Shape 17"/>
          <p:cNvSpPr/>
          <p:nvPr/>
        </p:nvSpPr>
        <p:spPr>
          <a:xfrm>
            <a:off x="5779008" y="3191256"/>
            <a:ext cx="329184" cy="329184"/>
          </a:xfrm>
          <a:prstGeom prst="roundRect">
            <a:avLst>
              <a:gd name="adj" fmla="val 13889"/>
            </a:avLst>
          </a:prstGeom>
          <a:solidFill>
            <a:srgbClr val="F4A261"/>
          </a:solidFill>
          <a:ln w="12700">
            <a:solidFill>
              <a:srgbClr val="F4A261"/>
            </a:solidFill>
            <a:prstDash val="solid"/>
          </a:ln>
        </p:spPr>
      </p:sp>
      <p:sp>
        <p:nvSpPr>
          <p:cNvPr id="21" name="Text 18"/>
          <p:cNvSpPr/>
          <p:nvPr/>
        </p:nvSpPr>
        <p:spPr>
          <a:xfrm>
            <a:off x="6172200" y="3218688"/>
            <a:ext cx="1645920" cy="274320"/>
          </a:xfrm>
          <a:prstGeom prst="rect">
            <a:avLst/>
          </a:prstGeom>
          <a:noFill/>
          <a:ln/>
        </p:spPr>
        <p:txBody>
          <a:bodyPr wrap="square" rtlCol="0" anchor="ctr"/>
          <a:lstStyle/>
          <a:p>
            <a:pPr indent="0" marL="0">
              <a:buNone/>
            </a:pPr>
            <a:r>
              <a:rPr lang="en-US" sz="1050" b="1" dirty="0">
                <a:solidFill>
                  <a:srgbClr val="1A2E3C"/>
                </a:solidFill>
                <a:latin typeface="Calibri" pitchFamily="34" charset="0"/>
                <a:ea typeface="Calibri" pitchFamily="34" charset="-122"/>
                <a:cs typeface="Calibri" pitchFamily="34" charset="-120"/>
              </a:rPr>
              <a:t>Amritsar</a:t>
            </a:r>
            <a:endParaRPr lang="en-US" sz="1050" dirty="0"/>
          </a:p>
        </p:txBody>
      </p:sp>
      <p:sp>
        <p:nvSpPr>
          <p:cNvPr id="22" name="Text 19"/>
          <p:cNvSpPr/>
          <p:nvPr/>
        </p:nvSpPr>
        <p:spPr>
          <a:xfrm>
            <a:off x="7863840" y="3218688"/>
            <a:ext cx="822960" cy="274320"/>
          </a:xfrm>
          <a:prstGeom prst="rect">
            <a:avLst/>
          </a:prstGeom>
          <a:noFill/>
          <a:ln/>
        </p:spPr>
        <p:txBody>
          <a:bodyPr wrap="square" rtlCol="0" anchor="ctr"/>
          <a:lstStyle/>
          <a:p>
            <a:pPr algn="r" indent="0" marL="0">
              <a:buNone/>
            </a:pPr>
            <a:r>
              <a:rPr lang="en-US" sz="1050" dirty="0">
                <a:solidFill>
                  <a:srgbClr val="0077B6"/>
                </a:solidFill>
                <a:latin typeface="Calibri" pitchFamily="34" charset="0"/>
                <a:ea typeface="Calibri" pitchFamily="34" charset="-122"/>
                <a:cs typeface="Calibri" pitchFamily="34" charset="-120"/>
              </a:rPr>
              <a:t>AQI 128</a:t>
            </a:r>
            <a:endParaRPr lang="en-US" sz="1050" dirty="0"/>
          </a:p>
        </p:txBody>
      </p:sp>
      <p:sp>
        <p:nvSpPr>
          <p:cNvPr id="23" name="Shape 20"/>
          <p:cNvSpPr/>
          <p:nvPr/>
        </p:nvSpPr>
        <p:spPr>
          <a:xfrm>
            <a:off x="5760720" y="3685032"/>
            <a:ext cx="3108960" cy="475488"/>
          </a:xfrm>
          <a:prstGeom prst="roundRect">
            <a:avLst>
              <a:gd name="adj" fmla="val 11538"/>
            </a:avLst>
          </a:prstGeom>
          <a:solidFill>
            <a:srgbClr val="FFFFFF"/>
          </a:solidFill>
          <a:ln w="12700">
            <a:solidFill>
              <a:srgbClr val="D0E8F5"/>
            </a:solidFill>
            <a:prstDash val="solid"/>
          </a:ln>
        </p:spPr>
      </p:sp>
      <p:sp>
        <p:nvSpPr>
          <p:cNvPr id="24" name="Shape 21"/>
          <p:cNvSpPr/>
          <p:nvPr/>
        </p:nvSpPr>
        <p:spPr>
          <a:xfrm>
            <a:off x="5779008" y="3758184"/>
            <a:ext cx="329184" cy="329184"/>
          </a:xfrm>
          <a:prstGeom prst="roundRect">
            <a:avLst>
              <a:gd name="adj" fmla="val 13889"/>
            </a:avLst>
          </a:prstGeom>
          <a:solidFill>
            <a:srgbClr val="F9C74F"/>
          </a:solidFill>
          <a:ln w="12700">
            <a:solidFill>
              <a:srgbClr val="F9C74F"/>
            </a:solidFill>
            <a:prstDash val="solid"/>
          </a:ln>
        </p:spPr>
      </p:sp>
      <p:sp>
        <p:nvSpPr>
          <p:cNvPr id="25" name="Text 22"/>
          <p:cNvSpPr/>
          <p:nvPr/>
        </p:nvSpPr>
        <p:spPr>
          <a:xfrm>
            <a:off x="6172200" y="3785616"/>
            <a:ext cx="1645920" cy="274320"/>
          </a:xfrm>
          <a:prstGeom prst="rect">
            <a:avLst/>
          </a:prstGeom>
          <a:noFill/>
          <a:ln/>
        </p:spPr>
        <p:txBody>
          <a:bodyPr wrap="square" rtlCol="0" anchor="ctr"/>
          <a:lstStyle/>
          <a:p>
            <a:pPr indent="0" marL="0">
              <a:buNone/>
            </a:pPr>
            <a:r>
              <a:rPr lang="en-US" sz="1050" b="1" dirty="0">
                <a:solidFill>
                  <a:srgbClr val="1A2E3C"/>
                </a:solidFill>
                <a:latin typeface="Calibri" pitchFamily="34" charset="0"/>
                <a:ea typeface="Calibri" pitchFamily="34" charset="-122"/>
                <a:cs typeface="Calibri" pitchFamily="34" charset="-120"/>
              </a:rPr>
              <a:t>Phagwara</a:t>
            </a:r>
            <a:endParaRPr lang="en-US" sz="1050" dirty="0"/>
          </a:p>
        </p:txBody>
      </p:sp>
      <p:sp>
        <p:nvSpPr>
          <p:cNvPr id="26" name="Text 23"/>
          <p:cNvSpPr/>
          <p:nvPr/>
        </p:nvSpPr>
        <p:spPr>
          <a:xfrm>
            <a:off x="7863840" y="3785616"/>
            <a:ext cx="822960" cy="274320"/>
          </a:xfrm>
          <a:prstGeom prst="rect">
            <a:avLst/>
          </a:prstGeom>
          <a:noFill/>
          <a:ln/>
        </p:spPr>
        <p:txBody>
          <a:bodyPr wrap="square" rtlCol="0" anchor="ctr"/>
          <a:lstStyle/>
          <a:p>
            <a:pPr algn="r" indent="0" marL="0">
              <a:buNone/>
            </a:pPr>
            <a:r>
              <a:rPr lang="en-US" sz="1050" dirty="0">
                <a:solidFill>
                  <a:srgbClr val="0077B6"/>
                </a:solidFill>
                <a:latin typeface="Calibri" pitchFamily="34" charset="0"/>
                <a:ea typeface="Calibri" pitchFamily="34" charset="-122"/>
                <a:cs typeface="Calibri" pitchFamily="34" charset="-120"/>
              </a:rPr>
              <a:t>AQI 126</a:t>
            </a:r>
            <a:endParaRPr lang="en-US" sz="1050" dirty="0"/>
          </a:p>
        </p:txBody>
      </p:sp>
      <p:sp>
        <p:nvSpPr>
          <p:cNvPr id="27" name="Shape 24"/>
          <p:cNvSpPr/>
          <p:nvPr/>
        </p:nvSpPr>
        <p:spPr>
          <a:xfrm>
            <a:off x="5760720" y="4251960"/>
            <a:ext cx="3108960" cy="475488"/>
          </a:xfrm>
          <a:prstGeom prst="roundRect">
            <a:avLst>
              <a:gd name="adj" fmla="val 11538"/>
            </a:avLst>
          </a:prstGeom>
          <a:solidFill>
            <a:srgbClr val="FFFFFF"/>
          </a:solidFill>
          <a:ln w="12700">
            <a:solidFill>
              <a:srgbClr val="D0E8F5"/>
            </a:solidFill>
            <a:prstDash val="solid"/>
          </a:ln>
        </p:spPr>
      </p:sp>
      <p:sp>
        <p:nvSpPr>
          <p:cNvPr id="28" name="Shape 25"/>
          <p:cNvSpPr/>
          <p:nvPr/>
        </p:nvSpPr>
        <p:spPr>
          <a:xfrm>
            <a:off x="5779008" y="4325112"/>
            <a:ext cx="329184" cy="329184"/>
          </a:xfrm>
          <a:prstGeom prst="roundRect">
            <a:avLst>
              <a:gd name="adj" fmla="val 13889"/>
            </a:avLst>
          </a:prstGeom>
          <a:solidFill>
            <a:srgbClr val="2DC653"/>
          </a:solidFill>
          <a:ln w="12700">
            <a:solidFill>
              <a:srgbClr val="2DC653"/>
            </a:solidFill>
            <a:prstDash val="solid"/>
          </a:ln>
        </p:spPr>
      </p:sp>
      <p:sp>
        <p:nvSpPr>
          <p:cNvPr id="29" name="Text 26"/>
          <p:cNvSpPr/>
          <p:nvPr/>
        </p:nvSpPr>
        <p:spPr>
          <a:xfrm>
            <a:off x="6172200" y="4352544"/>
            <a:ext cx="1645920" cy="274320"/>
          </a:xfrm>
          <a:prstGeom prst="rect">
            <a:avLst/>
          </a:prstGeom>
          <a:noFill/>
          <a:ln/>
        </p:spPr>
        <p:txBody>
          <a:bodyPr wrap="square" rtlCol="0" anchor="ctr"/>
          <a:lstStyle/>
          <a:p>
            <a:pPr indent="0" marL="0">
              <a:buNone/>
            </a:pPr>
            <a:r>
              <a:rPr lang="en-US" sz="1050" b="1" dirty="0">
                <a:solidFill>
                  <a:srgbClr val="1A2E3C"/>
                </a:solidFill>
                <a:latin typeface="Calibri" pitchFamily="34" charset="0"/>
                <a:ea typeface="Calibri" pitchFamily="34" charset="-122"/>
                <a:cs typeface="Calibri" pitchFamily="34" charset="-120"/>
              </a:rPr>
              <a:t>Kalal Majra</a:t>
            </a:r>
            <a:endParaRPr lang="en-US" sz="1050" dirty="0"/>
          </a:p>
        </p:txBody>
      </p:sp>
      <p:sp>
        <p:nvSpPr>
          <p:cNvPr id="30" name="Text 27"/>
          <p:cNvSpPr/>
          <p:nvPr/>
        </p:nvSpPr>
        <p:spPr>
          <a:xfrm>
            <a:off x="7863840" y="4352544"/>
            <a:ext cx="822960" cy="274320"/>
          </a:xfrm>
          <a:prstGeom prst="rect">
            <a:avLst/>
          </a:prstGeom>
          <a:noFill/>
          <a:ln/>
        </p:spPr>
        <p:txBody>
          <a:bodyPr wrap="square" rtlCol="0" anchor="ctr"/>
          <a:lstStyle/>
          <a:p>
            <a:pPr algn="r" indent="0" marL="0">
              <a:buNone/>
            </a:pPr>
            <a:r>
              <a:rPr lang="en-US" sz="1050" dirty="0">
                <a:solidFill>
                  <a:srgbClr val="0077B6"/>
                </a:solidFill>
                <a:latin typeface="Calibri" pitchFamily="34" charset="0"/>
                <a:ea typeface="Calibri" pitchFamily="34" charset="-122"/>
                <a:cs typeface="Calibri" pitchFamily="34" charset="-120"/>
              </a:rPr>
              <a:t>AQI 112</a:t>
            </a:r>
            <a:endParaRPr lang="en-US" sz="1050" dirty="0"/>
          </a:p>
        </p:txBody>
      </p:sp>
      <p:sp>
        <p:nvSpPr>
          <p:cNvPr id="31" name="Text 28"/>
          <p:cNvSpPr/>
          <p:nvPr/>
        </p:nvSpPr>
        <p:spPr>
          <a:xfrm>
            <a:off x="365760" y="4663440"/>
            <a:ext cx="8412480" cy="274320"/>
          </a:xfrm>
          <a:prstGeom prst="rect">
            <a:avLst/>
          </a:prstGeom>
          <a:noFill/>
          <a:ln/>
        </p:spPr>
        <p:txBody>
          <a:bodyPr wrap="square" rtlCol="0" anchor="ctr"/>
          <a:lstStyle/>
          <a:p>
            <a:pPr algn="ctr" indent="0" marL="0">
              <a:buNone/>
            </a:pPr>
            <a:r>
              <a:rPr lang="en-US" sz="850" i="1" dirty="0">
                <a:solidFill>
                  <a:srgbClr val="4A6FA5"/>
                </a:solidFill>
                <a:latin typeface="Calibri" pitchFamily="34" charset="0"/>
                <a:ea typeface="Calibri" pitchFamily="34" charset="-122"/>
                <a:cs typeface="Calibri" pitchFamily="34" charset="-120"/>
              </a:rPr>
              <a:t>November AQI 179 — Highest spike due to paddy stubble burning season in Punjab</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A3F"/>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00B4D8"/>
                </a:solidFill>
                <a:latin typeface="Calibri" pitchFamily="34" charset="0"/>
                <a:ea typeface="Calibri" pitchFamily="34" charset="-122"/>
                <a:cs typeface="Calibri" pitchFamily="34" charset="-120"/>
              </a:rPr>
              <a:t>SUMMARY</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Findings &amp; Conclusion</a:t>
            </a:r>
            <a:endParaRPr lang="en-US" sz="2600" dirty="0"/>
          </a:p>
        </p:txBody>
      </p:sp>
      <p:sp>
        <p:nvSpPr>
          <p:cNvPr id="4" name="Shape 2"/>
          <p:cNvSpPr/>
          <p:nvPr/>
        </p:nvSpPr>
        <p:spPr>
          <a:xfrm>
            <a:off x="365760" y="1234440"/>
            <a:ext cx="4160520" cy="1097280"/>
          </a:xfrm>
          <a:prstGeom prst="roundRect">
            <a:avLst>
              <a:gd name="adj" fmla="val 8333"/>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475488" y="1545336"/>
            <a:ext cx="384048" cy="384048"/>
          </a:xfrm>
          <a:prstGeom prst="roundRect">
            <a:avLst>
              <a:gd name="adj" fmla="val 14286"/>
            </a:avLst>
          </a:prstGeom>
          <a:solidFill>
            <a:srgbClr val="00B4D8"/>
          </a:solidFill>
          <a:ln w="12700">
            <a:solidFill>
              <a:srgbClr val="00B4D8"/>
            </a:solidFill>
            <a:prstDash val="solid"/>
          </a:ln>
        </p:spPr>
      </p:sp>
      <p:sp>
        <p:nvSpPr>
          <p:cNvPr id="6" name="Text 4"/>
          <p:cNvSpPr/>
          <p:nvPr/>
        </p:nvSpPr>
        <p:spPr>
          <a:xfrm>
            <a:off x="475488" y="1545336"/>
            <a:ext cx="384048" cy="384048"/>
          </a:xfrm>
          <a:prstGeom prst="rect">
            <a:avLst/>
          </a:prstGeom>
          <a:noFill/>
          <a:ln/>
        </p:spPr>
        <p:txBody>
          <a:bodyPr wrap="square" rtlCol="0" anchor="ctr"/>
          <a:lstStyle/>
          <a:p>
            <a:pPr algn="ctr" indent="0" marL="0">
              <a:buNone/>
            </a:pPr>
            <a:r>
              <a:rPr lang="en-US" sz="1000" b="1" dirty="0">
                <a:solidFill>
                  <a:srgbClr val="0F2A3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960120" y="1371600"/>
            <a:ext cx="3474720" cy="822960"/>
          </a:xfrm>
          <a:prstGeom prst="rect">
            <a:avLst/>
          </a:prstGeom>
          <a:noFill/>
          <a:ln/>
        </p:spPr>
        <p:txBody>
          <a:bodyPr wrap="square" rtlCol="0" anchor="ctr"/>
          <a:lstStyle/>
          <a:p>
            <a:pPr indent="0" marL="0">
              <a:lnSpc>
                <a:spcPct val="130000"/>
              </a:lnSpc>
              <a:buNone/>
            </a:pPr>
            <a:r>
              <a:rPr lang="en-US" sz="950" dirty="0">
                <a:solidFill>
                  <a:srgbClr val="C8DFF0"/>
                </a:solidFill>
                <a:latin typeface="Calibri" pitchFamily="34" charset="0"/>
                <a:ea typeface="Calibri" pitchFamily="34" charset="-122"/>
                <a:cs typeface="Calibri" pitchFamily="34" charset="-120"/>
              </a:rPr>
              <a:t>Delhi NCT is India's most polluted state at avg AQI 160 — 72% above safe levels</a:t>
            </a:r>
            <a:endParaRPr lang="en-US" sz="950" dirty="0"/>
          </a:p>
        </p:txBody>
      </p:sp>
      <p:sp>
        <p:nvSpPr>
          <p:cNvPr id="8" name="Shape 6"/>
          <p:cNvSpPr/>
          <p:nvPr/>
        </p:nvSpPr>
        <p:spPr>
          <a:xfrm>
            <a:off x="365760" y="2468880"/>
            <a:ext cx="4160520" cy="1097280"/>
          </a:xfrm>
          <a:prstGeom prst="roundRect">
            <a:avLst>
              <a:gd name="adj" fmla="val 8333"/>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9" name="Shape 7"/>
          <p:cNvSpPr/>
          <p:nvPr/>
        </p:nvSpPr>
        <p:spPr>
          <a:xfrm>
            <a:off x="475488" y="2779776"/>
            <a:ext cx="384048" cy="384048"/>
          </a:xfrm>
          <a:prstGeom prst="roundRect">
            <a:avLst>
              <a:gd name="adj" fmla="val 14286"/>
            </a:avLst>
          </a:prstGeom>
          <a:solidFill>
            <a:srgbClr val="00B4D8"/>
          </a:solidFill>
          <a:ln w="12700">
            <a:solidFill>
              <a:srgbClr val="00B4D8"/>
            </a:solidFill>
            <a:prstDash val="solid"/>
          </a:ln>
        </p:spPr>
      </p:sp>
      <p:sp>
        <p:nvSpPr>
          <p:cNvPr id="10" name="Text 8"/>
          <p:cNvSpPr/>
          <p:nvPr/>
        </p:nvSpPr>
        <p:spPr>
          <a:xfrm>
            <a:off x="475488" y="2779776"/>
            <a:ext cx="384048" cy="384048"/>
          </a:xfrm>
          <a:prstGeom prst="rect">
            <a:avLst/>
          </a:prstGeom>
          <a:noFill/>
          <a:ln/>
        </p:spPr>
        <p:txBody>
          <a:bodyPr wrap="square" rtlCol="0" anchor="ctr"/>
          <a:lstStyle/>
          <a:p>
            <a:pPr algn="ctr" indent="0" marL="0">
              <a:buNone/>
            </a:pPr>
            <a:r>
              <a:rPr lang="en-US" sz="1000" b="1" dirty="0">
                <a:solidFill>
                  <a:srgbClr val="0F2A3F"/>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960120" y="2606040"/>
            <a:ext cx="3474720" cy="822960"/>
          </a:xfrm>
          <a:prstGeom prst="rect">
            <a:avLst/>
          </a:prstGeom>
          <a:noFill/>
          <a:ln/>
        </p:spPr>
        <p:txBody>
          <a:bodyPr wrap="square" rtlCol="0" anchor="ctr"/>
          <a:lstStyle/>
          <a:p>
            <a:pPr indent="0" marL="0">
              <a:lnSpc>
                <a:spcPct val="130000"/>
              </a:lnSpc>
              <a:buNone/>
            </a:pPr>
            <a:r>
              <a:rPr lang="en-US" sz="950" dirty="0">
                <a:solidFill>
                  <a:srgbClr val="C8DFF0"/>
                </a:solidFill>
                <a:latin typeface="Calibri" pitchFamily="34" charset="0"/>
                <a:ea typeface="Calibri" pitchFamily="34" charset="-122"/>
                <a:cs typeface="Calibri" pitchFamily="34" charset="-120"/>
              </a:rPr>
              <a:t>Punjab ranks 4th most polluted — Bathinda &amp; Ludhiana worst, November AQI spikes to 179</a:t>
            </a:r>
            <a:endParaRPr lang="en-US" sz="950" dirty="0"/>
          </a:p>
        </p:txBody>
      </p:sp>
      <p:sp>
        <p:nvSpPr>
          <p:cNvPr id="12" name="Shape 10"/>
          <p:cNvSpPr/>
          <p:nvPr/>
        </p:nvSpPr>
        <p:spPr>
          <a:xfrm>
            <a:off x="365760" y="3703320"/>
            <a:ext cx="4160520" cy="1097280"/>
          </a:xfrm>
          <a:prstGeom prst="roundRect">
            <a:avLst>
              <a:gd name="adj" fmla="val 8333"/>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13" name="Shape 11"/>
          <p:cNvSpPr/>
          <p:nvPr/>
        </p:nvSpPr>
        <p:spPr>
          <a:xfrm>
            <a:off x="475488" y="4014216"/>
            <a:ext cx="384048" cy="384048"/>
          </a:xfrm>
          <a:prstGeom prst="roundRect">
            <a:avLst>
              <a:gd name="adj" fmla="val 14286"/>
            </a:avLst>
          </a:prstGeom>
          <a:solidFill>
            <a:srgbClr val="00B4D8"/>
          </a:solidFill>
          <a:ln w="12700">
            <a:solidFill>
              <a:srgbClr val="00B4D8"/>
            </a:solidFill>
            <a:prstDash val="solid"/>
          </a:ln>
        </p:spPr>
      </p:sp>
      <p:sp>
        <p:nvSpPr>
          <p:cNvPr id="14" name="Text 12"/>
          <p:cNvSpPr/>
          <p:nvPr/>
        </p:nvSpPr>
        <p:spPr>
          <a:xfrm>
            <a:off x="475488" y="4014216"/>
            <a:ext cx="384048" cy="384048"/>
          </a:xfrm>
          <a:prstGeom prst="rect">
            <a:avLst/>
          </a:prstGeom>
          <a:noFill/>
          <a:ln/>
        </p:spPr>
        <p:txBody>
          <a:bodyPr wrap="square" rtlCol="0" anchor="ctr"/>
          <a:lstStyle/>
          <a:p>
            <a:pPr algn="ctr" indent="0" marL="0">
              <a:buNone/>
            </a:pPr>
            <a:r>
              <a:rPr lang="en-US" sz="1000" b="1" dirty="0">
                <a:solidFill>
                  <a:srgbClr val="0F2A3F"/>
                </a:solidFill>
                <a:latin typeface="Calibri" pitchFamily="34" charset="0"/>
                <a:ea typeface="Calibri" pitchFamily="34" charset="-122"/>
                <a:cs typeface="Calibri" pitchFamily="34" charset="-120"/>
              </a:rPr>
              <a:t>03</a:t>
            </a:r>
            <a:endParaRPr lang="en-US" sz="1000" dirty="0"/>
          </a:p>
        </p:txBody>
      </p:sp>
      <p:sp>
        <p:nvSpPr>
          <p:cNvPr id="15" name="Text 13"/>
          <p:cNvSpPr/>
          <p:nvPr/>
        </p:nvSpPr>
        <p:spPr>
          <a:xfrm>
            <a:off x="960120" y="3840480"/>
            <a:ext cx="3474720" cy="822960"/>
          </a:xfrm>
          <a:prstGeom prst="rect">
            <a:avLst/>
          </a:prstGeom>
          <a:noFill/>
          <a:ln/>
        </p:spPr>
        <p:txBody>
          <a:bodyPr wrap="square" rtlCol="0" anchor="ctr"/>
          <a:lstStyle/>
          <a:p>
            <a:pPr indent="0" marL="0">
              <a:lnSpc>
                <a:spcPct val="130000"/>
              </a:lnSpc>
              <a:buNone/>
            </a:pPr>
            <a:r>
              <a:rPr lang="en-US" sz="950" dirty="0">
                <a:solidFill>
                  <a:srgbClr val="C8DFF0"/>
                </a:solidFill>
                <a:latin typeface="Calibri" pitchFamily="34" charset="0"/>
                <a:ea typeface="Calibri" pitchFamily="34" charset="-122"/>
                <a:cs typeface="Calibri" pitchFamily="34" charset="-120"/>
              </a:rPr>
              <a:t>Monsoon months (Jul–Aug) are cleanest at AQI 84 — rain physically washes pollutants away</a:t>
            </a:r>
            <a:endParaRPr lang="en-US" sz="950" dirty="0"/>
          </a:p>
        </p:txBody>
      </p:sp>
      <p:sp>
        <p:nvSpPr>
          <p:cNvPr id="16" name="Shape 14"/>
          <p:cNvSpPr/>
          <p:nvPr/>
        </p:nvSpPr>
        <p:spPr>
          <a:xfrm>
            <a:off x="4709160" y="1234440"/>
            <a:ext cx="4160520" cy="1097280"/>
          </a:xfrm>
          <a:prstGeom prst="roundRect">
            <a:avLst>
              <a:gd name="adj" fmla="val 8333"/>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4818888" y="1545336"/>
            <a:ext cx="384048" cy="384048"/>
          </a:xfrm>
          <a:prstGeom prst="roundRect">
            <a:avLst>
              <a:gd name="adj" fmla="val 14286"/>
            </a:avLst>
          </a:prstGeom>
          <a:solidFill>
            <a:srgbClr val="00B4D8"/>
          </a:solidFill>
          <a:ln w="12700">
            <a:solidFill>
              <a:srgbClr val="00B4D8"/>
            </a:solidFill>
            <a:prstDash val="solid"/>
          </a:ln>
        </p:spPr>
      </p:sp>
      <p:sp>
        <p:nvSpPr>
          <p:cNvPr id="18" name="Text 16"/>
          <p:cNvSpPr/>
          <p:nvPr/>
        </p:nvSpPr>
        <p:spPr>
          <a:xfrm>
            <a:off x="4818888" y="1545336"/>
            <a:ext cx="384048" cy="384048"/>
          </a:xfrm>
          <a:prstGeom prst="rect">
            <a:avLst/>
          </a:prstGeom>
          <a:noFill/>
          <a:ln/>
        </p:spPr>
        <p:txBody>
          <a:bodyPr wrap="square" rtlCol="0" anchor="ctr"/>
          <a:lstStyle/>
          <a:p>
            <a:pPr algn="ctr" indent="0" marL="0">
              <a:buNone/>
            </a:pPr>
            <a:r>
              <a:rPr lang="en-US" sz="1000" b="1" dirty="0">
                <a:solidFill>
                  <a:srgbClr val="0F2A3F"/>
                </a:solidFill>
                <a:latin typeface="Calibri" pitchFamily="34" charset="0"/>
                <a:ea typeface="Calibri" pitchFamily="34" charset="-122"/>
                <a:cs typeface="Calibri" pitchFamily="34" charset="-120"/>
              </a:rPr>
              <a:t>04</a:t>
            </a:r>
            <a:endParaRPr lang="en-US" sz="1000" dirty="0"/>
          </a:p>
        </p:txBody>
      </p:sp>
      <p:sp>
        <p:nvSpPr>
          <p:cNvPr id="19" name="Text 17"/>
          <p:cNvSpPr/>
          <p:nvPr/>
        </p:nvSpPr>
        <p:spPr>
          <a:xfrm>
            <a:off x="5303520" y="1371600"/>
            <a:ext cx="3474720" cy="822960"/>
          </a:xfrm>
          <a:prstGeom prst="rect">
            <a:avLst/>
          </a:prstGeom>
          <a:noFill/>
          <a:ln/>
        </p:spPr>
        <p:txBody>
          <a:bodyPr wrap="square" rtlCol="0" anchor="ctr"/>
          <a:lstStyle/>
          <a:p>
            <a:pPr indent="0" marL="0">
              <a:lnSpc>
                <a:spcPct val="130000"/>
              </a:lnSpc>
              <a:buNone/>
            </a:pPr>
            <a:r>
              <a:rPr lang="en-US" sz="950" dirty="0">
                <a:solidFill>
                  <a:srgbClr val="C8DFF0"/>
                </a:solidFill>
                <a:latin typeface="Calibri" pitchFamily="34" charset="0"/>
                <a:ea typeface="Calibri" pitchFamily="34" charset="-122"/>
                <a:cs typeface="Calibri" pitchFamily="34" charset="-120"/>
              </a:rPr>
              <a:t>Winter is 72% worse than summer — AQI 155 vs 90 due to temperature inversion &amp; burning</a:t>
            </a:r>
            <a:endParaRPr lang="en-US" sz="950" dirty="0"/>
          </a:p>
        </p:txBody>
      </p:sp>
      <p:sp>
        <p:nvSpPr>
          <p:cNvPr id="20" name="Shape 18"/>
          <p:cNvSpPr/>
          <p:nvPr/>
        </p:nvSpPr>
        <p:spPr>
          <a:xfrm>
            <a:off x="4709160" y="2468880"/>
            <a:ext cx="4160520" cy="1097280"/>
          </a:xfrm>
          <a:prstGeom prst="roundRect">
            <a:avLst>
              <a:gd name="adj" fmla="val 8333"/>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818888" y="2779776"/>
            <a:ext cx="384048" cy="384048"/>
          </a:xfrm>
          <a:prstGeom prst="roundRect">
            <a:avLst>
              <a:gd name="adj" fmla="val 14286"/>
            </a:avLst>
          </a:prstGeom>
          <a:solidFill>
            <a:srgbClr val="00B4D8"/>
          </a:solidFill>
          <a:ln w="12700">
            <a:solidFill>
              <a:srgbClr val="00B4D8"/>
            </a:solidFill>
            <a:prstDash val="solid"/>
          </a:ln>
        </p:spPr>
      </p:sp>
      <p:sp>
        <p:nvSpPr>
          <p:cNvPr id="22" name="Text 20"/>
          <p:cNvSpPr/>
          <p:nvPr/>
        </p:nvSpPr>
        <p:spPr>
          <a:xfrm>
            <a:off x="4818888" y="2779776"/>
            <a:ext cx="384048" cy="384048"/>
          </a:xfrm>
          <a:prstGeom prst="rect">
            <a:avLst/>
          </a:prstGeom>
          <a:noFill/>
          <a:ln/>
        </p:spPr>
        <p:txBody>
          <a:bodyPr wrap="square" rtlCol="0" anchor="ctr"/>
          <a:lstStyle/>
          <a:p>
            <a:pPr algn="ctr" indent="0" marL="0">
              <a:buNone/>
            </a:pPr>
            <a:r>
              <a:rPr lang="en-US" sz="1000" b="1" dirty="0">
                <a:solidFill>
                  <a:srgbClr val="0F2A3F"/>
                </a:solidFill>
                <a:latin typeface="Calibri" pitchFamily="34" charset="0"/>
                <a:ea typeface="Calibri" pitchFamily="34" charset="-122"/>
                <a:cs typeface="Calibri" pitchFamily="34" charset="-120"/>
              </a:rPr>
              <a:t>05</a:t>
            </a:r>
            <a:endParaRPr lang="en-US" sz="1000" dirty="0"/>
          </a:p>
        </p:txBody>
      </p:sp>
      <p:sp>
        <p:nvSpPr>
          <p:cNvPr id="23" name="Text 21"/>
          <p:cNvSpPr/>
          <p:nvPr/>
        </p:nvSpPr>
        <p:spPr>
          <a:xfrm>
            <a:off x="5303520" y="2606040"/>
            <a:ext cx="3474720" cy="822960"/>
          </a:xfrm>
          <a:prstGeom prst="rect">
            <a:avLst/>
          </a:prstGeom>
          <a:noFill/>
          <a:ln/>
        </p:spPr>
        <p:txBody>
          <a:bodyPr wrap="square" rtlCol="0" anchor="ctr"/>
          <a:lstStyle/>
          <a:p>
            <a:pPr indent="0" marL="0">
              <a:lnSpc>
                <a:spcPct val="130000"/>
              </a:lnSpc>
              <a:buNone/>
            </a:pPr>
            <a:r>
              <a:rPr lang="en-US" sz="950" dirty="0">
                <a:solidFill>
                  <a:srgbClr val="C8DFF0"/>
                </a:solidFill>
                <a:latin typeface="Calibri" pitchFamily="34" charset="0"/>
                <a:ea typeface="Calibri" pitchFamily="34" charset="-122"/>
                <a:cs typeface="Calibri" pitchFamily="34" charset="-120"/>
              </a:rPr>
              <a:t>PM10 &amp; PM2.5 drive 95% of AQI — dust and particulate matter are India's core problem</a:t>
            </a:r>
            <a:endParaRPr lang="en-US" sz="950" dirty="0"/>
          </a:p>
        </p:txBody>
      </p:sp>
      <p:sp>
        <p:nvSpPr>
          <p:cNvPr id="24" name="Shape 22"/>
          <p:cNvSpPr/>
          <p:nvPr/>
        </p:nvSpPr>
        <p:spPr>
          <a:xfrm>
            <a:off x="4709160" y="3703320"/>
            <a:ext cx="4160520" cy="1097280"/>
          </a:xfrm>
          <a:prstGeom prst="roundRect">
            <a:avLst>
              <a:gd name="adj" fmla="val 8333"/>
            </a:avLst>
          </a:prstGeom>
          <a:solidFill>
            <a:srgbClr val="163A52"/>
          </a:solidFill>
          <a:ln w="12700">
            <a:solidFill>
              <a:srgbClr val="1E5070"/>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4818888" y="4014216"/>
            <a:ext cx="384048" cy="384048"/>
          </a:xfrm>
          <a:prstGeom prst="roundRect">
            <a:avLst>
              <a:gd name="adj" fmla="val 14286"/>
            </a:avLst>
          </a:prstGeom>
          <a:solidFill>
            <a:srgbClr val="00B4D8"/>
          </a:solidFill>
          <a:ln w="12700">
            <a:solidFill>
              <a:srgbClr val="00B4D8"/>
            </a:solidFill>
            <a:prstDash val="solid"/>
          </a:ln>
        </p:spPr>
      </p:sp>
      <p:sp>
        <p:nvSpPr>
          <p:cNvPr id="26" name="Text 24"/>
          <p:cNvSpPr/>
          <p:nvPr/>
        </p:nvSpPr>
        <p:spPr>
          <a:xfrm>
            <a:off x="4818888" y="4014216"/>
            <a:ext cx="384048" cy="384048"/>
          </a:xfrm>
          <a:prstGeom prst="rect">
            <a:avLst/>
          </a:prstGeom>
          <a:noFill/>
          <a:ln/>
        </p:spPr>
        <p:txBody>
          <a:bodyPr wrap="square" rtlCol="0" anchor="ctr"/>
          <a:lstStyle/>
          <a:p>
            <a:pPr algn="ctr" indent="0" marL="0">
              <a:buNone/>
            </a:pPr>
            <a:r>
              <a:rPr lang="en-US" sz="1000" b="1" dirty="0">
                <a:solidFill>
                  <a:srgbClr val="0F2A3F"/>
                </a:solidFill>
                <a:latin typeface="Calibri" pitchFamily="34" charset="0"/>
                <a:ea typeface="Calibri" pitchFamily="34" charset="-122"/>
                <a:cs typeface="Calibri" pitchFamily="34" charset="-120"/>
              </a:rPr>
              <a:t>06</a:t>
            </a:r>
            <a:endParaRPr lang="en-US" sz="1000" dirty="0"/>
          </a:p>
        </p:txBody>
      </p:sp>
      <p:sp>
        <p:nvSpPr>
          <p:cNvPr id="27" name="Text 25"/>
          <p:cNvSpPr/>
          <p:nvPr/>
        </p:nvSpPr>
        <p:spPr>
          <a:xfrm>
            <a:off x="5303520" y="3840480"/>
            <a:ext cx="3474720" cy="822960"/>
          </a:xfrm>
          <a:prstGeom prst="rect">
            <a:avLst/>
          </a:prstGeom>
          <a:noFill/>
          <a:ln/>
        </p:spPr>
        <p:txBody>
          <a:bodyPr wrap="square" rtlCol="0" anchor="ctr"/>
          <a:lstStyle/>
          <a:p>
            <a:pPr indent="0" marL="0">
              <a:lnSpc>
                <a:spcPct val="130000"/>
              </a:lnSpc>
              <a:buNone/>
            </a:pPr>
            <a:r>
              <a:rPr lang="en-US" sz="950" dirty="0">
                <a:solidFill>
                  <a:srgbClr val="C8DFF0"/>
                </a:solidFill>
                <a:latin typeface="Calibri" pitchFamily="34" charset="0"/>
                <a:ea typeface="Calibri" pitchFamily="34" charset="-122"/>
                <a:cs typeface="Calibri" pitchFamily="34" charset="-120"/>
              </a:rPr>
              <a:t>COVID 2020 lockdown reduced AQI by 15% — proving vehicles &amp; industry are major contributors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6FA"/>
        </a:solidFill>
      </p:bgPr>
    </p:bg>
    <p:spTree>
      <p:nvGrpSpPr>
        <p:cNvPr id="1" name=""/>
        <p:cNvGrpSpPr/>
        <p:nvPr/>
      </p:nvGrpSpPr>
      <p:grpSpPr>
        <a:xfrm>
          <a:off x="0" y="0"/>
          <a:ext cx="0" cy="0"/>
          <a:chOff x="0" y="0"/>
          <a:chExt cx="0" cy="0"/>
        </a:xfrm>
      </p:grpSpPr>
      <p:sp>
        <p:nvSpPr>
          <p:cNvPr id="2" name="Text 0"/>
          <p:cNvSpPr/>
          <p:nvPr/>
        </p:nvSpPr>
        <p:spPr>
          <a:xfrm>
            <a:off x="457200" y="274320"/>
            <a:ext cx="8229600" cy="274320"/>
          </a:xfrm>
          <a:prstGeom prst="rect">
            <a:avLst/>
          </a:prstGeom>
          <a:noFill/>
          <a:ln/>
        </p:spPr>
        <p:txBody>
          <a:bodyPr wrap="square" rtlCol="0" anchor="ctr"/>
          <a:lstStyle/>
          <a:p>
            <a:pPr indent="0" marL="0">
              <a:buNone/>
            </a:pPr>
            <a:r>
              <a:rPr lang="en-US" sz="900" b="1" spc="400" kern="0" dirty="0">
                <a:solidFill>
                  <a:srgbClr val="4A6FA5"/>
                </a:solidFill>
                <a:latin typeface="Calibri" pitchFamily="34" charset="0"/>
                <a:ea typeface="Calibri" pitchFamily="34" charset="-122"/>
                <a:cs typeface="Calibri" pitchFamily="34" charset="-120"/>
              </a:rPr>
              <a:t>FUTURE WORK</a:t>
            </a:r>
            <a:endParaRPr lang="en-US" sz="9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A2E3C"/>
                </a:solidFill>
                <a:latin typeface="Calibri" pitchFamily="34" charset="0"/>
                <a:ea typeface="Calibri" pitchFamily="34" charset="-122"/>
                <a:cs typeface="Calibri" pitchFamily="34" charset="-120"/>
              </a:rPr>
              <a:t>Advantages &amp; Future Scope</a:t>
            </a:r>
            <a:endParaRPr lang="en-US" sz="2600" dirty="0"/>
          </a:p>
        </p:txBody>
      </p:sp>
      <p:sp>
        <p:nvSpPr>
          <p:cNvPr id="4" name="Text 2"/>
          <p:cNvSpPr/>
          <p:nvPr/>
        </p:nvSpPr>
        <p:spPr>
          <a:xfrm>
            <a:off x="365760" y="1143000"/>
            <a:ext cx="4114800" cy="320040"/>
          </a:xfrm>
          <a:prstGeom prst="rect">
            <a:avLst/>
          </a:prstGeom>
          <a:noFill/>
          <a:ln/>
        </p:spPr>
        <p:txBody>
          <a:bodyPr wrap="square" rtlCol="0" anchor="ctr"/>
          <a:lstStyle/>
          <a:p>
            <a:pPr indent="0" marL="0">
              <a:buNone/>
            </a:pPr>
            <a:r>
              <a:rPr lang="en-US" sz="1300" b="1" dirty="0">
                <a:solidFill>
                  <a:srgbClr val="1A2E3C"/>
                </a:solidFill>
                <a:latin typeface="Calibri" pitchFamily="34" charset="0"/>
                <a:ea typeface="Calibri" pitchFamily="34" charset="-122"/>
                <a:cs typeface="Calibri" pitchFamily="34" charset="-120"/>
              </a:rPr>
              <a:t>✅  Project Advantages</a:t>
            </a:r>
            <a:endParaRPr lang="en-US" sz="1300" dirty="0"/>
          </a:p>
        </p:txBody>
      </p:sp>
      <p:sp>
        <p:nvSpPr>
          <p:cNvPr id="5" name="Shape 3"/>
          <p:cNvSpPr/>
          <p:nvPr/>
        </p:nvSpPr>
        <p:spPr>
          <a:xfrm>
            <a:off x="365760" y="1508760"/>
            <a:ext cx="4160520" cy="548640"/>
          </a:xfrm>
          <a:prstGeom prst="roundRect">
            <a:avLst>
              <a:gd name="adj" fmla="val 1166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475488" y="1618488"/>
            <a:ext cx="320040" cy="32004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841248" y="1618488"/>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Real CPCB government-validated data from 483 stations</a:t>
            </a:r>
            <a:endParaRPr lang="en-US" sz="1000" dirty="0"/>
          </a:p>
        </p:txBody>
      </p:sp>
      <p:sp>
        <p:nvSpPr>
          <p:cNvPr id="8" name="Shape 6"/>
          <p:cNvSpPr/>
          <p:nvPr/>
        </p:nvSpPr>
        <p:spPr>
          <a:xfrm>
            <a:off x="365760" y="2157984"/>
            <a:ext cx="4160520" cy="548640"/>
          </a:xfrm>
          <a:prstGeom prst="roundRect">
            <a:avLst>
              <a:gd name="adj" fmla="val 1166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75488" y="2267712"/>
            <a:ext cx="320040" cy="32004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841248" y="2267712"/>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15 years of historical coverage — largest time span possible</a:t>
            </a:r>
            <a:endParaRPr lang="en-US" sz="1000" dirty="0"/>
          </a:p>
        </p:txBody>
      </p:sp>
      <p:sp>
        <p:nvSpPr>
          <p:cNvPr id="11" name="Shape 9"/>
          <p:cNvSpPr/>
          <p:nvPr/>
        </p:nvSpPr>
        <p:spPr>
          <a:xfrm>
            <a:off x="365760" y="2807208"/>
            <a:ext cx="4160520" cy="548640"/>
          </a:xfrm>
          <a:prstGeom prst="roundRect">
            <a:avLst>
              <a:gd name="adj" fmla="val 1166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475488" y="2916936"/>
            <a:ext cx="320040" cy="32004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841248" y="2916936"/>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Custom AQI calculation using EPA standard formula</a:t>
            </a:r>
            <a:endParaRPr lang="en-US" sz="1000" dirty="0"/>
          </a:p>
        </p:txBody>
      </p:sp>
      <p:sp>
        <p:nvSpPr>
          <p:cNvPr id="14" name="Shape 12"/>
          <p:cNvSpPr/>
          <p:nvPr/>
        </p:nvSpPr>
        <p:spPr>
          <a:xfrm>
            <a:off x="365760" y="3456432"/>
            <a:ext cx="4160520" cy="548640"/>
          </a:xfrm>
          <a:prstGeom prst="roundRect">
            <a:avLst>
              <a:gd name="adj" fmla="val 1166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5" name="Text 13"/>
          <p:cNvSpPr/>
          <p:nvPr/>
        </p:nvSpPr>
        <p:spPr>
          <a:xfrm>
            <a:off x="475488" y="3566160"/>
            <a:ext cx="320040" cy="32004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841248" y="3566160"/>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State, city, station and seasonal analysis in one project</a:t>
            </a:r>
            <a:endParaRPr lang="en-US" sz="1000" dirty="0"/>
          </a:p>
        </p:txBody>
      </p:sp>
      <p:sp>
        <p:nvSpPr>
          <p:cNvPr id="17" name="Shape 15"/>
          <p:cNvSpPr/>
          <p:nvPr/>
        </p:nvSpPr>
        <p:spPr>
          <a:xfrm>
            <a:off x="365760" y="4105656"/>
            <a:ext cx="4160520" cy="548640"/>
          </a:xfrm>
          <a:prstGeom prst="roundRect">
            <a:avLst>
              <a:gd name="adj" fmla="val 11667"/>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475488" y="4215384"/>
            <a:ext cx="320040" cy="320040"/>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841248" y="4215384"/>
            <a:ext cx="3566160" cy="320040"/>
          </a:xfrm>
          <a:prstGeom prst="rect">
            <a:avLst/>
          </a:prstGeom>
          <a:noFill/>
          <a:ln/>
        </p:spPr>
        <p:txBody>
          <a:bodyPr wrap="square" rtlCol="0" anchor="ctr"/>
          <a:lstStyle/>
          <a:p>
            <a:pPr indent="0" marL="0">
              <a:buNone/>
            </a:pPr>
            <a:r>
              <a:rPr lang="en-US" sz="1000" dirty="0">
                <a:solidFill>
                  <a:srgbClr val="1A2E3C"/>
                </a:solidFill>
                <a:latin typeface="Calibri" pitchFamily="34" charset="0"/>
                <a:ea typeface="Calibri" pitchFamily="34" charset="-122"/>
                <a:cs typeface="Calibri" pitchFamily="34" charset="-120"/>
              </a:rPr>
              <a:t>Punjab-specific insights highly relevant to local context</a:t>
            </a:r>
            <a:endParaRPr lang="en-US" sz="1000" dirty="0"/>
          </a:p>
        </p:txBody>
      </p:sp>
      <p:sp>
        <p:nvSpPr>
          <p:cNvPr id="20" name="Text 18"/>
          <p:cNvSpPr/>
          <p:nvPr/>
        </p:nvSpPr>
        <p:spPr>
          <a:xfrm>
            <a:off x="4846320" y="1143000"/>
            <a:ext cx="4023360" cy="320040"/>
          </a:xfrm>
          <a:prstGeom prst="rect">
            <a:avLst/>
          </a:prstGeom>
          <a:noFill/>
          <a:ln/>
        </p:spPr>
        <p:txBody>
          <a:bodyPr wrap="square" rtlCol="0" anchor="ctr"/>
          <a:lstStyle/>
          <a:p>
            <a:pPr indent="0" marL="0">
              <a:buNone/>
            </a:pPr>
            <a:r>
              <a:rPr lang="en-US" sz="1300" b="1" dirty="0">
                <a:solidFill>
                  <a:srgbClr val="1A2E3C"/>
                </a:solidFill>
                <a:latin typeface="Calibri" pitchFamily="34" charset="0"/>
                <a:ea typeface="Calibri" pitchFamily="34" charset="-122"/>
                <a:cs typeface="Calibri" pitchFamily="34" charset="-120"/>
              </a:rPr>
              <a:t>🚀  Future Enhancements</a:t>
            </a:r>
            <a:endParaRPr lang="en-US" sz="1300" dirty="0"/>
          </a:p>
        </p:txBody>
      </p:sp>
      <p:sp>
        <p:nvSpPr>
          <p:cNvPr id="21" name="Shape 19"/>
          <p:cNvSpPr/>
          <p:nvPr/>
        </p:nvSpPr>
        <p:spPr>
          <a:xfrm>
            <a:off x="4754880" y="1508760"/>
            <a:ext cx="4114800" cy="713232"/>
          </a:xfrm>
          <a:prstGeom prst="roundRect">
            <a:avLst>
              <a:gd name="adj" fmla="val 102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4846320" y="1563624"/>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3" name="Text 21"/>
          <p:cNvSpPr/>
          <p:nvPr/>
        </p:nvSpPr>
        <p:spPr>
          <a:xfrm>
            <a:off x="5349240" y="1581912"/>
            <a:ext cx="3383280" cy="256032"/>
          </a:xfrm>
          <a:prstGeom prst="rect">
            <a:avLst/>
          </a:prstGeom>
          <a:noFill/>
          <a:ln/>
        </p:spPr>
        <p:txBody>
          <a:bodyPr wrap="square" rtlCol="0" anchor="ctr"/>
          <a:lstStyle/>
          <a:p>
            <a:pPr indent="0" marL="0">
              <a:buNone/>
            </a:pPr>
            <a:r>
              <a:rPr lang="en-US" sz="1100" b="1" dirty="0">
                <a:solidFill>
                  <a:srgbClr val="1A2E3C"/>
                </a:solidFill>
                <a:latin typeface="Calibri" pitchFamily="34" charset="0"/>
                <a:ea typeface="Calibri" pitchFamily="34" charset="-122"/>
                <a:cs typeface="Calibri" pitchFamily="34" charset="-120"/>
              </a:rPr>
              <a:t>Streamlit Dashboard</a:t>
            </a:r>
            <a:endParaRPr lang="en-US" sz="1100" dirty="0"/>
          </a:p>
        </p:txBody>
      </p:sp>
      <p:sp>
        <p:nvSpPr>
          <p:cNvPr id="24" name="Text 22"/>
          <p:cNvSpPr/>
          <p:nvPr/>
        </p:nvSpPr>
        <p:spPr>
          <a:xfrm>
            <a:off x="5349240" y="1856232"/>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Convert the entire analysis into a live interactive web dashboard</a:t>
            </a:r>
            <a:endParaRPr lang="en-US" sz="900" dirty="0"/>
          </a:p>
        </p:txBody>
      </p:sp>
      <p:sp>
        <p:nvSpPr>
          <p:cNvPr id="25" name="Shape 23"/>
          <p:cNvSpPr/>
          <p:nvPr/>
        </p:nvSpPr>
        <p:spPr>
          <a:xfrm>
            <a:off x="4754880" y="2322576"/>
            <a:ext cx="4114800" cy="713232"/>
          </a:xfrm>
          <a:prstGeom prst="roundRect">
            <a:avLst>
              <a:gd name="adj" fmla="val 102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4846320" y="2377440"/>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5349240" y="2395728"/>
            <a:ext cx="3383280" cy="256032"/>
          </a:xfrm>
          <a:prstGeom prst="rect">
            <a:avLst/>
          </a:prstGeom>
          <a:noFill/>
          <a:ln/>
        </p:spPr>
        <p:txBody>
          <a:bodyPr wrap="square" rtlCol="0" anchor="ctr"/>
          <a:lstStyle/>
          <a:p>
            <a:pPr indent="0" marL="0">
              <a:buNone/>
            </a:pPr>
            <a:r>
              <a:rPr lang="en-US" sz="1100" b="1" dirty="0">
                <a:solidFill>
                  <a:srgbClr val="1A2E3C"/>
                </a:solidFill>
                <a:latin typeface="Calibri" pitchFamily="34" charset="0"/>
                <a:ea typeface="Calibri" pitchFamily="34" charset="-122"/>
                <a:cs typeface="Calibri" pitchFamily="34" charset="-120"/>
              </a:rPr>
              <a:t>ML Prediction Model</a:t>
            </a:r>
            <a:endParaRPr lang="en-US" sz="1100" dirty="0"/>
          </a:p>
        </p:txBody>
      </p:sp>
      <p:sp>
        <p:nvSpPr>
          <p:cNvPr id="28" name="Text 26"/>
          <p:cNvSpPr/>
          <p:nvPr/>
        </p:nvSpPr>
        <p:spPr>
          <a:xfrm>
            <a:off x="5349240" y="2670048"/>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Train a model to predict next-day AQI from weather &amp; pollutant data</a:t>
            </a:r>
            <a:endParaRPr lang="en-US" sz="900" dirty="0"/>
          </a:p>
        </p:txBody>
      </p:sp>
      <p:sp>
        <p:nvSpPr>
          <p:cNvPr id="29" name="Shape 27"/>
          <p:cNvSpPr/>
          <p:nvPr/>
        </p:nvSpPr>
        <p:spPr>
          <a:xfrm>
            <a:off x="4754880" y="3136392"/>
            <a:ext cx="4114800" cy="713232"/>
          </a:xfrm>
          <a:prstGeom prst="roundRect">
            <a:avLst>
              <a:gd name="adj" fmla="val 102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4846320" y="3191256"/>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1" name="Text 29"/>
          <p:cNvSpPr/>
          <p:nvPr/>
        </p:nvSpPr>
        <p:spPr>
          <a:xfrm>
            <a:off x="5349240" y="3209544"/>
            <a:ext cx="3383280" cy="256032"/>
          </a:xfrm>
          <a:prstGeom prst="rect">
            <a:avLst/>
          </a:prstGeom>
          <a:noFill/>
          <a:ln/>
        </p:spPr>
        <p:txBody>
          <a:bodyPr wrap="square" rtlCol="0" anchor="ctr"/>
          <a:lstStyle/>
          <a:p>
            <a:pPr indent="0" marL="0">
              <a:buNone/>
            </a:pPr>
            <a:r>
              <a:rPr lang="en-US" sz="1100" b="1" dirty="0">
                <a:solidFill>
                  <a:srgbClr val="1A2E3C"/>
                </a:solidFill>
                <a:latin typeface="Calibri" pitchFamily="34" charset="0"/>
                <a:ea typeface="Calibri" pitchFamily="34" charset="-122"/>
                <a:cs typeface="Calibri" pitchFamily="34" charset="-120"/>
              </a:rPr>
              <a:t>Mobile Application</a:t>
            </a:r>
            <a:endParaRPr lang="en-US" sz="1100" dirty="0"/>
          </a:p>
        </p:txBody>
      </p:sp>
      <p:sp>
        <p:nvSpPr>
          <p:cNvPr id="32" name="Text 30"/>
          <p:cNvSpPr/>
          <p:nvPr/>
        </p:nvSpPr>
        <p:spPr>
          <a:xfrm>
            <a:off x="5349240" y="3483864"/>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Build an app to send real-time AQI alerts to citizens</a:t>
            </a:r>
            <a:endParaRPr lang="en-US" sz="900" dirty="0"/>
          </a:p>
        </p:txBody>
      </p:sp>
      <p:sp>
        <p:nvSpPr>
          <p:cNvPr id="33" name="Shape 31"/>
          <p:cNvSpPr/>
          <p:nvPr/>
        </p:nvSpPr>
        <p:spPr>
          <a:xfrm>
            <a:off x="4754880" y="3950208"/>
            <a:ext cx="4114800" cy="713232"/>
          </a:xfrm>
          <a:prstGeom prst="roundRect">
            <a:avLst>
              <a:gd name="adj" fmla="val 10256"/>
            </a:avLst>
          </a:prstGeom>
          <a:solidFill>
            <a:srgbClr val="FFFFFF"/>
          </a:solidFill>
          <a:ln w="12700">
            <a:solidFill>
              <a:srgbClr val="D0E8F5"/>
            </a:solidFill>
            <a:prstDash val="solid"/>
          </a:ln>
          <a:effectLst>
            <a:outerShdw sx="100000" sy="100000" kx="0" ky="0" algn="bl" rotWithShape="0" blurRad="101600" dist="38100" dir="2700000">
              <a:srgbClr val="000000">
                <a:alpha val="12000"/>
              </a:srgbClr>
            </a:outerShdw>
          </a:effectLst>
        </p:spPr>
      </p:sp>
      <p:sp>
        <p:nvSpPr>
          <p:cNvPr id="34" name="Text 32"/>
          <p:cNvSpPr/>
          <p:nvPr/>
        </p:nvSpPr>
        <p:spPr>
          <a:xfrm>
            <a:off x="4846320" y="400507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5" name="Text 33"/>
          <p:cNvSpPr/>
          <p:nvPr/>
        </p:nvSpPr>
        <p:spPr>
          <a:xfrm>
            <a:off x="5349240" y="4023360"/>
            <a:ext cx="3383280" cy="256032"/>
          </a:xfrm>
          <a:prstGeom prst="rect">
            <a:avLst/>
          </a:prstGeom>
          <a:noFill/>
          <a:ln/>
        </p:spPr>
        <p:txBody>
          <a:bodyPr wrap="square" rtlCol="0" anchor="ctr"/>
          <a:lstStyle/>
          <a:p>
            <a:pPr indent="0" marL="0">
              <a:buNone/>
            </a:pPr>
            <a:r>
              <a:rPr lang="en-US" sz="1100" b="1" dirty="0">
                <a:solidFill>
                  <a:srgbClr val="1A2E3C"/>
                </a:solidFill>
                <a:latin typeface="Calibri" pitchFamily="34" charset="0"/>
                <a:ea typeface="Calibri" pitchFamily="34" charset="-122"/>
                <a:cs typeface="Calibri" pitchFamily="34" charset="-120"/>
              </a:rPr>
              <a:t>Geographic Mapping</a:t>
            </a:r>
            <a:endParaRPr lang="en-US" sz="1100" dirty="0"/>
          </a:p>
        </p:txBody>
      </p:sp>
      <p:sp>
        <p:nvSpPr>
          <p:cNvPr id="36" name="Text 34"/>
          <p:cNvSpPr/>
          <p:nvPr/>
        </p:nvSpPr>
        <p:spPr>
          <a:xfrm>
            <a:off x="5349240" y="4297680"/>
            <a:ext cx="3383280" cy="256032"/>
          </a:xfrm>
          <a:prstGeom prst="rect">
            <a:avLst/>
          </a:prstGeom>
          <a:noFill/>
          <a:ln/>
        </p:spPr>
        <p:txBody>
          <a:bodyPr wrap="square" rtlCol="0" anchor="ctr"/>
          <a:lstStyle/>
          <a:p>
            <a:pPr indent="0" marL="0">
              <a:buNone/>
            </a:pPr>
            <a:r>
              <a:rPr lang="en-US" sz="900" dirty="0">
                <a:solidFill>
                  <a:srgbClr val="4A6FA5"/>
                </a:solidFill>
                <a:latin typeface="Calibri" pitchFamily="34" charset="0"/>
                <a:ea typeface="Calibri" pitchFamily="34" charset="-122"/>
                <a:cs typeface="Calibri" pitchFamily="34" charset="-120"/>
              </a:rPr>
              <a:t>Map AQI across India using Folium or Plotly geo-maps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3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A3F"/>
          </a:solidFill>
          <a:ln w="12700">
            <a:solidFill>
              <a:srgbClr val="0F2A3F"/>
            </a:solidFill>
            <a:prstDash val="solid"/>
          </a:ln>
        </p:spPr>
      </p:sp>
      <p:sp>
        <p:nvSpPr>
          <p:cNvPr id="3" name="Text 1"/>
          <p:cNvSpPr/>
          <p:nvPr/>
        </p:nvSpPr>
        <p:spPr>
          <a:xfrm>
            <a:off x="0" y="914400"/>
            <a:ext cx="9144000" cy="82296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4" name="Text 2"/>
          <p:cNvSpPr/>
          <p:nvPr/>
        </p:nvSpPr>
        <p:spPr>
          <a:xfrm>
            <a:off x="0" y="1828800"/>
            <a:ext cx="9144000" cy="77724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Text 3"/>
          <p:cNvSpPr/>
          <p:nvPr/>
        </p:nvSpPr>
        <p:spPr>
          <a:xfrm>
            <a:off x="0" y="2606040"/>
            <a:ext cx="9144000" cy="365760"/>
          </a:xfrm>
          <a:prstGeom prst="rect">
            <a:avLst/>
          </a:prstGeom>
          <a:noFill/>
          <a:ln/>
        </p:spPr>
        <p:txBody>
          <a:bodyPr wrap="square" rtlCol="0" anchor="ctr"/>
          <a:lstStyle/>
          <a:p>
            <a:pPr algn="ctr" indent="0" marL="0">
              <a:buNone/>
            </a:pPr>
            <a:r>
              <a:rPr lang="en-US" sz="1400" dirty="0">
                <a:solidFill>
                  <a:srgbClr val="00B4D8"/>
                </a:solidFill>
                <a:latin typeface="Calibri" pitchFamily="34" charset="0"/>
                <a:ea typeface="Calibri" pitchFamily="34" charset="-122"/>
                <a:cs typeface="Calibri" pitchFamily="34" charset="-120"/>
              </a:rPr>
              <a:t>India Air Quality Index Analysis  |  2009–2024</a:t>
            </a:r>
            <a:endParaRPr lang="en-US" sz="1400" dirty="0"/>
          </a:p>
        </p:txBody>
      </p:sp>
      <p:sp>
        <p:nvSpPr>
          <p:cNvPr id="6" name="Text 4"/>
          <p:cNvSpPr/>
          <p:nvPr/>
        </p:nvSpPr>
        <p:spPr>
          <a:xfrm>
            <a:off x="0" y="3154680"/>
            <a:ext cx="9144000" cy="320040"/>
          </a:xfrm>
          <a:prstGeom prst="rect">
            <a:avLst/>
          </a:prstGeom>
          <a:noFill/>
          <a:ln/>
        </p:spPr>
        <p:txBody>
          <a:bodyPr wrap="square" rtlCol="0" anchor="ctr"/>
          <a:lstStyle/>
          <a:p>
            <a:pPr algn="ctr" indent="0" marL="0">
              <a:buNone/>
            </a:pPr>
            <a:r>
              <a:rPr lang="en-US" sz="950" dirty="0">
                <a:solidFill>
                  <a:srgbClr val="607D8B"/>
                </a:solidFill>
                <a:latin typeface="Calibri" pitchFamily="34" charset="0"/>
                <a:ea typeface="Calibri" pitchFamily="34" charset="-122"/>
                <a:cs typeface="Calibri" pitchFamily="34" charset="-120"/>
              </a:rPr>
              <a:t>Data Source: CPCB via Kaggle  •  Tools: Python, Pandas, Matplotlib, Seaborn  •  483 Stations  •  240 Cities  •  20 States</a:t>
            </a:r>
            <a:endParaRPr lang="en-US" sz="950" dirty="0"/>
          </a:p>
        </p:txBody>
      </p:sp>
      <p:sp>
        <p:nvSpPr>
          <p:cNvPr id="7" name="Shape 5"/>
          <p:cNvSpPr/>
          <p:nvPr/>
        </p:nvSpPr>
        <p:spPr>
          <a:xfrm>
            <a:off x="914400" y="3749040"/>
            <a:ext cx="1737360" cy="1051560"/>
          </a:xfrm>
          <a:prstGeom prst="roundRect">
            <a:avLst>
              <a:gd name="adj" fmla="val 8696"/>
            </a:avLst>
          </a:prstGeom>
          <a:solidFill>
            <a:srgbClr val="163A52"/>
          </a:solidFill>
          <a:ln w="12700">
            <a:solidFill>
              <a:srgbClr val="1E5070"/>
            </a:solidFill>
            <a:prstDash val="solid"/>
          </a:ln>
        </p:spPr>
      </p:sp>
      <p:sp>
        <p:nvSpPr>
          <p:cNvPr id="8" name="Text 6"/>
          <p:cNvSpPr/>
          <p:nvPr/>
        </p:nvSpPr>
        <p:spPr>
          <a:xfrm>
            <a:off x="914400" y="3822192"/>
            <a:ext cx="1737360" cy="475488"/>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7,38,097</a:t>
            </a:r>
            <a:endParaRPr lang="en-US" sz="2000" dirty="0"/>
          </a:p>
        </p:txBody>
      </p:sp>
      <p:sp>
        <p:nvSpPr>
          <p:cNvPr id="9" name="Text 7"/>
          <p:cNvSpPr/>
          <p:nvPr/>
        </p:nvSpPr>
        <p:spPr>
          <a:xfrm>
            <a:off x="914400" y="4297680"/>
            <a:ext cx="1737360" cy="274320"/>
          </a:xfrm>
          <a:prstGeom prst="rect">
            <a:avLst/>
          </a:prstGeom>
          <a:noFill/>
          <a:ln/>
        </p:spPr>
        <p:txBody>
          <a:bodyPr wrap="square" rtlCol="0" anchor="ctr"/>
          <a:lstStyle/>
          <a:p>
            <a:pPr algn="ctr" indent="0" marL="0">
              <a:buNone/>
            </a:pPr>
            <a:r>
              <a:rPr lang="en-US" sz="850" dirty="0">
                <a:solidFill>
                  <a:srgbClr val="A8C8E0"/>
                </a:solidFill>
                <a:latin typeface="Calibri" pitchFamily="34" charset="0"/>
                <a:ea typeface="Calibri" pitchFamily="34" charset="-122"/>
                <a:cs typeface="Calibri" pitchFamily="34" charset="-120"/>
              </a:rPr>
              <a:t>Daily Readings</a:t>
            </a:r>
            <a:endParaRPr lang="en-US" sz="850" dirty="0"/>
          </a:p>
        </p:txBody>
      </p:sp>
      <p:sp>
        <p:nvSpPr>
          <p:cNvPr id="10" name="Shape 8"/>
          <p:cNvSpPr/>
          <p:nvPr/>
        </p:nvSpPr>
        <p:spPr>
          <a:xfrm>
            <a:off x="2834640" y="3749040"/>
            <a:ext cx="1737360" cy="1051560"/>
          </a:xfrm>
          <a:prstGeom prst="roundRect">
            <a:avLst>
              <a:gd name="adj" fmla="val 8696"/>
            </a:avLst>
          </a:prstGeom>
          <a:solidFill>
            <a:srgbClr val="163A52"/>
          </a:solidFill>
          <a:ln w="12700">
            <a:solidFill>
              <a:srgbClr val="1E5070"/>
            </a:solidFill>
            <a:prstDash val="solid"/>
          </a:ln>
        </p:spPr>
      </p:sp>
      <p:sp>
        <p:nvSpPr>
          <p:cNvPr id="11" name="Text 9"/>
          <p:cNvSpPr/>
          <p:nvPr/>
        </p:nvSpPr>
        <p:spPr>
          <a:xfrm>
            <a:off x="2834640" y="3822192"/>
            <a:ext cx="1737360" cy="475488"/>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21</a:t>
            </a:r>
            <a:endParaRPr lang="en-US" sz="2000" dirty="0"/>
          </a:p>
        </p:txBody>
      </p:sp>
      <p:sp>
        <p:nvSpPr>
          <p:cNvPr id="12" name="Text 10"/>
          <p:cNvSpPr/>
          <p:nvPr/>
        </p:nvSpPr>
        <p:spPr>
          <a:xfrm>
            <a:off x="2834640" y="4297680"/>
            <a:ext cx="1737360" cy="274320"/>
          </a:xfrm>
          <a:prstGeom prst="rect">
            <a:avLst/>
          </a:prstGeom>
          <a:noFill/>
          <a:ln/>
        </p:spPr>
        <p:txBody>
          <a:bodyPr wrap="square" rtlCol="0" anchor="ctr"/>
          <a:lstStyle/>
          <a:p>
            <a:pPr algn="ctr" indent="0" marL="0">
              <a:buNone/>
            </a:pPr>
            <a:r>
              <a:rPr lang="en-US" sz="850" dirty="0">
                <a:solidFill>
                  <a:srgbClr val="A8C8E0"/>
                </a:solidFill>
                <a:latin typeface="Calibri" pitchFamily="34" charset="0"/>
                <a:ea typeface="Calibri" pitchFamily="34" charset="-122"/>
                <a:cs typeface="Calibri" pitchFamily="34" charset="-120"/>
              </a:rPr>
              <a:t>Charts Created</a:t>
            </a:r>
            <a:endParaRPr lang="en-US" sz="850" dirty="0"/>
          </a:p>
        </p:txBody>
      </p:sp>
      <p:sp>
        <p:nvSpPr>
          <p:cNvPr id="13" name="Shape 11"/>
          <p:cNvSpPr/>
          <p:nvPr/>
        </p:nvSpPr>
        <p:spPr>
          <a:xfrm>
            <a:off x="4754880" y="3749040"/>
            <a:ext cx="1737360" cy="1051560"/>
          </a:xfrm>
          <a:prstGeom prst="roundRect">
            <a:avLst>
              <a:gd name="adj" fmla="val 8696"/>
            </a:avLst>
          </a:prstGeom>
          <a:solidFill>
            <a:srgbClr val="163A52"/>
          </a:solidFill>
          <a:ln w="12700">
            <a:solidFill>
              <a:srgbClr val="1E5070"/>
            </a:solidFill>
            <a:prstDash val="solid"/>
          </a:ln>
        </p:spPr>
      </p:sp>
      <p:sp>
        <p:nvSpPr>
          <p:cNvPr id="14" name="Text 12"/>
          <p:cNvSpPr/>
          <p:nvPr/>
        </p:nvSpPr>
        <p:spPr>
          <a:xfrm>
            <a:off x="4754880" y="3822192"/>
            <a:ext cx="1737360" cy="475488"/>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8</a:t>
            </a:r>
            <a:endParaRPr lang="en-US" sz="2000" dirty="0"/>
          </a:p>
        </p:txBody>
      </p:sp>
      <p:sp>
        <p:nvSpPr>
          <p:cNvPr id="15" name="Text 13"/>
          <p:cNvSpPr/>
          <p:nvPr/>
        </p:nvSpPr>
        <p:spPr>
          <a:xfrm>
            <a:off x="4754880" y="4297680"/>
            <a:ext cx="1737360" cy="274320"/>
          </a:xfrm>
          <a:prstGeom prst="rect">
            <a:avLst/>
          </a:prstGeom>
          <a:noFill/>
          <a:ln/>
        </p:spPr>
        <p:txBody>
          <a:bodyPr wrap="square" rtlCol="0" anchor="ctr"/>
          <a:lstStyle/>
          <a:p>
            <a:pPr algn="ctr" indent="0" marL="0">
              <a:buNone/>
            </a:pPr>
            <a:r>
              <a:rPr lang="en-US" sz="850" dirty="0">
                <a:solidFill>
                  <a:srgbClr val="A8C8E0"/>
                </a:solidFill>
                <a:latin typeface="Calibri" pitchFamily="34" charset="0"/>
                <a:ea typeface="Calibri" pitchFamily="34" charset="-122"/>
                <a:cs typeface="Calibri" pitchFamily="34" charset="-120"/>
              </a:rPr>
              <a:t>Analysis Phases</a:t>
            </a:r>
            <a:endParaRPr lang="en-US" sz="850" dirty="0"/>
          </a:p>
        </p:txBody>
      </p:sp>
      <p:sp>
        <p:nvSpPr>
          <p:cNvPr id="16" name="Shape 14"/>
          <p:cNvSpPr/>
          <p:nvPr/>
        </p:nvSpPr>
        <p:spPr>
          <a:xfrm>
            <a:off x="6675120" y="3749040"/>
            <a:ext cx="1737360" cy="1051560"/>
          </a:xfrm>
          <a:prstGeom prst="roundRect">
            <a:avLst>
              <a:gd name="adj" fmla="val 8696"/>
            </a:avLst>
          </a:prstGeom>
          <a:solidFill>
            <a:srgbClr val="163A52"/>
          </a:solidFill>
          <a:ln w="12700">
            <a:solidFill>
              <a:srgbClr val="1E5070"/>
            </a:solidFill>
            <a:prstDash val="solid"/>
          </a:ln>
        </p:spPr>
      </p:sp>
      <p:sp>
        <p:nvSpPr>
          <p:cNvPr id="17" name="Text 15"/>
          <p:cNvSpPr/>
          <p:nvPr/>
        </p:nvSpPr>
        <p:spPr>
          <a:xfrm>
            <a:off x="6675120" y="3822192"/>
            <a:ext cx="1737360" cy="475488"/>
          </a:xfrm>
          <a:prstGeom prst="rect">
            <a:avLst/>
          </a:prstGeom>
          <a:noFill/>
          <a:ln/>
        </p:spPr>
        <p:txBody>
          <a:bodyPr wrap="square" rtlCol="0" anchor="ctr"/>
          <a:lstStyle/>
          <a:p>
            <a:pPr algn="ctr" indent="0" marL="0">
              <a:buNone/>
            </a:pPr>
            <a:r>
              <a:rPr lang="en-US" sz="2000" b="1" dirty="0">
                <a:solidFill>
                  <a:srgbClr val="00B4D8"/>
                </a:solidFill>
                <a:latin typeface="Calibri" pitchFamily="34" charset="0"/>
                <a:ea typeface="Calibri" pitchFamily="34" charset="-122"/>
                <a:cs typeface="Calibri" pitchFamily="34" charset="-120"/>
              </a:rPr>
              <a:t>15 yrs</a:t>
            </a:r>
            <a:endParaRPr lang="en-US" sz="2000" dirty="0"/>
          </a:p>
        </p:txBody>
      </p:sp>
      <p:sp>
        <p:nvSpPr>
          <p:cNvPr id="18" name="Text 16"/>
          <p:cNvSpPr/>
          <p:nvPr/>
        </p:nvSpPr>
        <p:spPr>
          <a:xfrm>
            <a:off x="6675120" y="4297680"/>
            <a:ext cx="1737360" cy="274320"/>
          </a:xfrm>
          <a:prstGeom prst="rect">
            <a:avLst/>
          </a:prstGeom>
          <a:noFill/>
          <a:ln/>
        </p:spPr>
        <p:txBody>
          <a:bodyPr wrap="square" rtlCol="0" anchor="ctr"/>
          <a:lstStyle/>
          <a:p>
            <a:pPr algn="ctr" indent="0" marL="0">
              <a:buNone/>
            </a:pPr>
            <a:r>
              <a:rPr lang="en-US" sz="850" dirty="0">
                <a:solidFill>
                  <a:srgbClr val="A8C8E0"/>
                </a:solidFill>
                <a:latin typeface="Calibri" pitchFamily="34" charset="0"/>
                <a:ea typeface="Calibri" pitchFamily="34" charset="-122"/>
                <a:cs typeface="Calibri" pitchFamily="34" charset="-120"/>
              </a:rPr>
              <a:t>Data Coverage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AQI Analysis</dc:title>
  <dc:subject>PptxGenJS Presentation</dc:subject>
  <dc:creator>PptxGenJS</dc:creator>
  <cp:lastModifiedBy>PptxGenJS</cp:lastModifiedBy>
  <cp:revision>1</cp:revision>
  <dcterms:created xsi:type="dcterms:W3CDTF">2026-07-06T09:09:25Z</dcterms:created>
  <dcterms:modified xsi:type="dcterms:W3CDTF">2026-07-06T09:09:25Z</dcterms:modified>
</cp:coreProperties>
</file>